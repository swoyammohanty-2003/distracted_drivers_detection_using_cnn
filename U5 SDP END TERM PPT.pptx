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slideLayouts/slideLayout77.xml" ContentType="application/vnd.openxmlformats-officedocument.presentationml.slideLayout+xml"/>
  <Override PartName="/ppt/theme/theme5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  <p:sldMasterId id="2147483736" r:id="rId2"/>
    <p:sldMasterId id="2147483739" r:id="rId3"/>
    <p:sldMasterId id="2147483754" r:id="rId4"/>
    <p:sldMasterId id="2147483767" r:id="rId5"/>
    <p:sldMasterId id="2147483769" r:id="rId6"/>
  </p:sldMasterIdLst>
  <p:notesMasterIdLst>
    <p:notesMasterId r:id="rId37"/>
  </p:notesMasterIdLst>
  <p:sldIdLst>
    <p:sldId id="256" r:id="rId7"/>
    <p:sldId id="257" r:id="rId8"/>
    <p:sldId id="258" r:id="rId9"/>
    <p:sldId id="265" r:id="rId10"/>
    <p:sldId id="267" r:id="rId11"/>
    <p:sldId id="266" r:id="rId12"/>
    <p:sldId id="259" r:id="rId13"/>
    <p:sldId id="284" r:id="rId14"/>
    <p:sldId id="285" r:id="rId15"/>
    <p:sldId id="270" r:id="rId16"/>
    <p:sldId id="271" r:id="rId17"/>
    <p:sldId id="272" r:id="rId18"/>
    <p:sldId id="295" r:id="rId19"/>
    <p:sldId id="274" r:id="rId20"/>
    <p:sldId id="296" r:id="rId21"/>
    <p:sldId id="280" r:id="rId22"/>
    <p:sldId id="288" r:id="rId23"/>
    <p:sldId id="286" r:id="rId24"/>
    <p:sldId id="290" r:id="rId25"/>
    <p:sldId id="282" r:id="rId26"/>
    <p:sldId id="287" r:id="rId27"/>
    <p:sldId id="291" r:id="rId28"/>
    <p:sldId id="294" r:id="rId29"/>
    <p:sldId id="292" r:id="rId30"/>
    <p:sldId id="293" r:id="rId31"/>
    <p:sldId id="297" r:id="rId32"/>
    <p:sldId id="278" r:id="rId33"/>
    <p:sldId id="264" r:id="rId34"/>
    <p:sldId id="269" r:id="rId35"/>
    <p:sldId id="263" r:id="rId36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4660"/>
  </p:normalViewPr>
  <p:slideViewPr>
    <p:cSldViewPr>
      <p:cViewPr varScale="1">
        <p:scale>
          <a:sx n="82" d="100"/>
          <a:sy n="82" d="100"/>
        </p:scale>
        <p:origin x="852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viewProps" Target="view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5F173-03C3-4740-A67E-6DB24D88BCAD}" type="datetimeFigureOut">
              <a:rPr lang="en-IN" smtClean="0"/>
              <a:t>09-06-2025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568DD-5E58-4F63-AE35-2E2BCAEE8F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996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568DD-5E58-4F63-AE35-2E2BCAEE8F4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436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568DD-5E58-4F63-AE35-2E2BCAEE8F4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654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568DD-5E58-4F63-AE35-2E2BCAEE8F4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850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://bit.ly/2Tynxth" TargetMode="Externa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sentationgo.com/" TargetMode="External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0;p2"/>
          <p:cNvGrpSpPr/>
          <p:nvPr/>
        </p:nvGrpSpPr>
        <p:grpSpPr>
          <a:xfrm>
            <a:off x="0" y="-11"/>
            <a:ext cx="9144003" cy="5143511"/>
            <a:chOff x="0" y="-11"/>
            <a:chExt cx="9144003" cy="5143511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 cstate="print">
              <a:alphaModFix amt="40000"/>
            </a:blip>
            <a:stretch>
              <a:fillRect/>
            </a:stretch>
          </p:blipFill>
          <p:spPr>
            <a:xfrm>
              <a:off x="0" y="-11"/>
              <a:ext cx="9144003" cy="2397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8" y="0"/>
              <a:ext cx="7717135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69825" y="1238850"/>
            <a:ext cx="5804400" cy="18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2500" y="3504354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87850" y="2102909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187800" y="929450"/>
            <a:ext cx="27684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187850" y="347531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-6080572">
            <a:off x="7357825" y="-650032"/>
            <a:ext cx="1859881" cy="202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8;p5"/>
          <p:cNvGrpSpPr/>
          <p:nvPr/>
        </p:nvGrpSpPr>
        <p:grpSpPr>
          <a:xfrm>
            <a:off x="-2736154" y="-2532646"/>
            <a:ext cx="9665434" cy="12031040"/>
            <a:chOff x="-2736154" y="-2532646"/>
            <a:chExt cx="9665434" cy="12031040"/>
          </a:xfrm>
        </p:grpSpPr>
        <p:pic>
          <p:nvPicPr>
            <p:cNvPr id="29" name="Google Shape;29;p5"/>
            <p:cNvPicPr preferRelativeResize="0"/>
            <p:nvPr/>
          </p:nvPicPr>
          <p:blipFill>
            <a:blip r:embed="rId3" cstate="print">
              <a:alphaModFix/>
            </a:blip>
            <a:stretch>
              <a:fillRect/>
            </a:stretch>
          </p:blipFill>
          <p:spPr>
            <a:xfrm rot="6384532">
              <a:off x="-1809626" y="-2542696"/>
              <a:ext cx="3232319" cy="4349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5"/>
            <p:cNvPicPr preferRelativeResize="0"/>
            <p:nvPr/>
          </p:nvPicPr>
          <p:blipFill>
            <a:blip r:embed="rId4" cstate="print">
              <a:alphaModFix amt="18000"/>
            </a:blip>
            <a:stretch>
              <a:fillRect/>
            </a:stretch>
          </p:blipFill>
          <p:spPr>
            <a:xfrm rot="10799995">
              <a:off x="2645630" y="2857270"/>
              <a:ext cx="4283650" cy="66411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290763" y="2337704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945638" y="2337688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290775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4945650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39;p6"/>
          <p:cNvGrpSpPr/>
          <p:nvPr/>
        </p:nvGrpSpPr>
        <p:grpSpPr>
          <a:xfrm>
            <a:off x="50600" y="-1177774"/>
            <a:ext cx="9637306" cy="2466454"/>
            <a:chOff x="50600" y="-1177774"/>
            <a:chExt cx="9637306" cy="2466454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50600" y="-1177774"/>
              <a:ext cx="2253752" cy="2225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4" cstate="print">
              <a:alphaModFix amt="26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>
          <a:blip r:embed="rId3" cstate="print">
            <a:alphaModFix amt="40000"/>
          </a:blip>
          <a:stretch>
            <a:fillRect/>
          </a:stretch>
        </p:blipFill>
        <p:spPr>
          <a:xfrm rot="10800000" flipH="1">
            <a:off x="0" y="2745889"/>
            <a:ext cx="9144003" cy="23976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720000" y="1554150"/>
            <a:ext cx="4401600" cy="30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naheim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9;p8"/>
          <p:cNvGrpSpPr/>
          <p:nvPr/>
        </p:nvGrpSpPr>
        <p:grpSpPr>
          <a:xfrm>
            <a:off x="-1326274" y="222183"/>
            <a:ext cx="11453645" cy="6483616"/>
            <a:chOff x="-1326274" y="222183"/>
            <a:chExt cx="11453645" cy="6483616"/>
          </a:xfrm>
        </p:grpSpPr>
        <p:pic>
          <p:nvPicPr>
            <p:cNvPr id="50" name="Google Shape;50;p8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5" cstate="print">
              <a:alphaModFix/>
            </a:blip>
            <a:stretch>
              <a:fillRect/>
            </a:stretch>
          </p:blipFill>
          <p:spPr>
            <a:xfrm rot="-626902">
              <a:off x="-1012802" y="2777516"/>
              <a:ext cx="2756456" cy="3709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8"/>
            <p:cNvPicPr preferRelativeResize="0"/>
            <p:nvPr/>
          </p:nvPicPr>
          <p:blipFill>
            <a:blip r:embed="rId6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9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 flipH="1">
            <a:off x="5176550" y="1294100"/>
            <a:ext cx="3252300" cy="121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 flipH="1">
            <a:off x="5176550" y="2664600"/>
            <a:ext cx="3252300" cy="11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307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720000" y="3883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1"/>
          <p:cNvPicPr preferRelativeResize="0"/>
          <p:nvPr/>
        </p:nvPicPr>
        <p:blipFill>
          <a:blip r:embed="rId3" cstate="print">
            <a:alphaModFix amt="48000"/>
          </a:blip>
          <a:stretch>
            <a:fillRect/>
          </a:stretch>
        </p:blipFill>
        <p:spPr>
          <a:xfrm rot="4861616">
            <a:off x="2643919" y="-1295605"/>
            <a:ext cx="3574490" cy="757035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68850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284000" y="3553300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71;p13"/>
          <p:cNvGrpSpPr/>
          <p:nvPr/>
        </p:nvGrpSpPr>
        <p:grpSpPr>
          <a:xfrm>
            <a:off x="-891002" y="-1228775"/>
            <a:ext cx="10578908" cy="2929874"/>
            <a:chOff x="-891002" y="-1228775"/>
            <a:chExt cx="10578908" cy="2929874"/>
          </a:xfrm>
        </p:grpSpPr>
        <p:pic>
          <p:nvPicPr>
            <p:cNvPr id="72" name="Google Shape;72;p13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3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"/>
          </p:nvPr>
        </p:nvSpPr>
        <p:spPr>
          <a:xfrm>
            <a:off x="7200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3" hasCustomPrompt="1"/>
          </p:nvPr>
        </p:nvSpPr>
        <p:spPr>
          <a:xfrm>
            <a:off x="12505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7200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/>
          </p:nvPr>
        </p:nvSpPr>
        <p:spPr>
          <a:xfrm>
            <a:off x="34038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5" hasCustomPrompt="1"/>
          </p:nvPr>
        </p:nvSpPr>
        <p:spPr>
          <a:xfrm>
            <a:off x="39343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34038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7"/>
          </p:nvPr>
        </p:nvSpPr>
        <p:spPr>
          <a:xfrm>
            <a:off x="60876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8" hasCustomPrompt="1"/>
          </p:nvPr>
        </p:nvSpPr>
        <p:spPr>
          <a:xfrm>
            <a:off x="66181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9"/>
          </p:nvPr>
        </p:nvSpPr>
        <p:spPr>
          <a:xfrm>
            <a:off x="60876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/>
          </p:nvPr>
        </p:nvSpPr>
        <p:spPr>
          <a:xfrm>
            <a:off x="7200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12505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5"/>
          </p:nvPr>
        </p:nvSpPr>
        <p:spPr>
          <a:xfrm>
            <a:off x="7200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6"/>
          </p:nvPr>
        </p:nvSpPr>
        <p:spPr>
          <a:xfrm>
            <a:off x="34038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7" hasCustomPrompt="1"/>
          </p:nvPr>
        </p:nvSpPr>
        <p:spPr>
          <a:xfrm>
            <a:off x="39343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8"/>
          </p:nvPr>
        </p:nvSpPr>
        <p:spPr>
          <a:xfrm>
            <a:off x="34038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9"/>
          </p:nvPr>
        </p:nvSpPr>
        <p:spPr>
          <a:xfrm>
            <a:off x="60876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0" hasCustomPrompt="1"/>
          </p:nvPr>
        </p:nvSpPr>
        <p:spPr>
          <a:xfrm>
            <a:off x="66181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21"/>
          </p:nvPr>
        </p:nvSpPr>
        <p:spPr>
          <a:xfrm>
            <a:off x="60876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95;p14"/>
          <p:cNvGrpSpPr/>
          <p:nvPr/>
        </p:nvGrpSpPr>
        <p:grpSpPr>
          <a:xfrm rot="10800000" flipH="1">
            <a:off x="-1002602" y="2626046"/>
            <a:ext cx="10690508" cy="3876129"/>
            <a:chOff x="-1002602" y="-2587450"/>
            <a:chExt cx="10690508" cy="3876129"/>
          </a:xfrm>
        </p:grpSpPr>
        <p:pic>
          <p:nvPicPr>
            <p:cNvPr id="96" name="Google Shape;96;p14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02602" y="-258745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4"/>
            <p:cNvPicPr preferRelativeResize="0"/>
            <p:nvPr/>
          </p:nvPicPr>
          <p:blipFill rotWithShape="1">
            <a:blip r:embed="rId4" cstate="print">
              <a:alphaModFix amt="31000"/>
            </a:blip>
            <a:srcRect l="-115660" t="-15070" r="115660" b="15069"/>
            <a:stretch/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720000" y="2117188"/>
            <a:ext cx="23364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2"/>
          </p:nvPr>
        </p:nvSpPr>
        <p:spPr>
          <a:xfrm>
            <a:off x="3980038" y="1027588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3" hasCustomPrompt="1"/>
          </p:nvPr>
        </p:nvSpPr>
        <p:spPr>
          <a:xfrm>
            <a:off x="3093426" y="10275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6216076" y="1027588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4"/>
          </p:nvPr>
        </p:nvSpPr>
        <p:spPr>
          <a:xfrm>
            <a:off x="3980038" y="2354195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5" hasCustomPrompt="1"/>
          </p:nvPr>
        </p:nvSpPr>
        <p:spPr>
          <a:xfrm>
            <a:off x="3093434" y="23541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6"/>
          </p:nvPr>
        </p:nvSpPr>
        <p:spPr>
          <a:xfrm>
            <a:off x="6216076" y="2354195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7"/>
          </p:nvPr>
        </p:nvSpPr>
        <p:spPr>
          <a:xfrm>
            <a:off x="3980038" y="3555390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8" hasCustomPrompt="1"/>
          </p:nvPr>
        </p:nvSpPr>
        <p:spPr>
          <a:xfrm>
            <a:off x="3091425" y="35553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9"/>
          </p:nvPr>
        </p:nvSpPr>
        <p:spPr>
          <a:xfrm>
            <a:off x="6216076" y="3555390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Table of contents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10;p15"/>
          <p:cNvGrpSpPr/>
          <p:nvPr/>
        </p:nvGrpSpPr>
        <p:grpSpPr>
          <a:xfrm flipH="1">
            <a:off x="-1390802" y="299725"/>
            <a:ext cx="11262196" cy="4113879"/>
            <a:chOff x="-1074490" y="299725"/>
            <a:chExt cx="11262196" cy="4113879"/>
          </a:xfrm>
        </p:grpSpPr>
        <p:pic>
          <p:nvPicPr>
            <p:cNvPr id="111" name="Google Shape;111;p15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74490" y="2997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5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965524" y="200285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title" idx="2"/>
          </p:nvPr>
        </p:nvSpPr>
        <p:spPr>
          <a:xfrm>
            <a:off x="18883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title" idx="3" hasCustomPrompt="1"/>
          </p:nvPr>
        </p:nvSpPr>
        <p:spPr>
          <a:xfrm>
            <a:off x="24189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subTitle" idx="1"/>
          </p:nvPr>
        </p:nvSpPr>
        <p:spPr>
          <a:xfrm>
            <a:off x="18883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 idx="4"/>
          </p:nvPr>
        </p:nvSpPr>
        <p:spPr>
          <a:xfrm>
            <a:off x="45721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 idx="5" hasCustomPrompt="1"/>
          </p:nvPr>
        </p:nvSpPr>
        <p:spPr>
          <a:xfrm>
            <a:off x="51027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5"/>
          <p:cNvSpPr txBox="1">
            <a:spLocks noGrp="1"/>
          </p:cNvSpPr>
          <p:nvPr>
            <p:ph type="subTitle" idx="6"/>
          </p:nvPr>
        </p:nvSpPr>
        <p:spPr>
          <a:xfrm>
            <a:off x="45721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title" idx="7"/>
          </p:nvPr>
        </p:nvSpPr>
        <p:spPr>
          <a:xfrm>
            <a:off x="18883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title" idx="8" hasCustomPrompt="1"/>
          </p:nvPr>
        </p:nvSpPr>
        <p:spPr>
          <a:xfrm>
            <a:off x="24189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9"/>
          </p:nvPr>
        </p:nvSpPr>
        <p:spPr>
          <a:xfrm>
            <a:off x="18883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title" idx="13"/>
          </p:nvPr>
        </p:nvSpPr>
        <p:spPr>
          <a:xfrm>
            <a:off x="45721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title" idx="14" hasCustomPrompt="1"/>
          </p:nvPr>
        </p:nvSpPr>
        <p:spPr>
          <a:xfrm>
            <a:off x="51027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5"/>
          </p:nvPr>
        </p:nvSpPr>
        <p:spPr>
          <a:xfrm>
            <a:off x="45721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-939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 flipH="1">
            <a:off x="2132450" y="1482875"/>
            <a:ext cx="49785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1"/>
          </p:nvPr>
        </p:nvSpPr>
        <p:spPr>
          <a:xfrm flipH="1">
            <a:off x="2132450" y="2389840"/>
            <a:ext cx="4978500" cy="12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34;p17"/>
          <p:cNvGrpSpPr/>
          <p:nvPr/>
        </p:nvGrpSpPr>
        <p:grpSpPr>
          <a:xfrm>
            <a:off x="0" y="-805349"/>
            <a:ext cx="9763800" cy="7934649"/>
            <a:chOff x="0" y="-805349"/>
            <a:chExt cx="9763800" cy="7934649"/>
          </a:xfrm>
        </p:grpSpPr>
        <p:pic>
          <p:nvPicPr>
            <p:cNvPr id="135" name="Google Shape;135;p17"/>
            <p:cNvPicPr preferRelativeResize="0"/>
            <p:nvPr/>
          </p:nvPicPr>
          <p:blipFill>
            <a:blip r:embed="rId3" cstate="print">
              <a:alphaModFix amt="21000"/>
            </a:blip>
            <a:stretch>
              <a:fillRect/>
            </a:stretch>
          </p:blipFill>
          <p:spPr>
            <a:xfrm rot="-5400000">
              <a:off x="-2349749" y="2349750"/>
              <a:ext cx="7129298" cy="2429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7"/>
            <p:cNvPicPr preferRelativeResize="0"/>
            <p:nvPr/>
          </p:nvPicPr>
          <p:blipFill>
            <a:blip r:embed="rId4" cstate="print">
              <a:alphaModFix amt="40000"/>
            </a:blip>
            <a:stretch>
              <a:fillRect/>
            </a:stretch>
          </p:blipFill>
          <p:spPr>
            <a:xfrm>
              <a:off x="7439551" y="-805349"/>
              <a:ext cx="2324250" cy="22947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 cstate="print">
            <a:alphaModFix amt="60000"/>
          </a:blip>
          <a:stretch>
            <a:fillRect/>
          </a:stretch>
        </p:blipFill>
        <p:spPr>
          <a:xfrm>
            <a:off x="-1029327" y="3181250"/>
            <a:ext cx="2881223" cy="292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 cstate="print">
            <a:alphaModFix/>
          </a:blip>
          <a:stretch>
            <a:fillRect/>
          </a:stretch>
        </p:blipFill>
        <p:spPr>
          <a:xfrm rot="9116214">
            <a:off x="7511526" y="565727"/>
            <a:ext cx="2981601" cy="401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44;p19"/>
          <p:cNvGrpSpPr/>
          <p:nvPr/>
        </p:nvGrpSpPr>
        <p:grpSpPr>
          <a:xfrm>
            <a:off x="-576577" y="-1474725"/>
            <a:ext cx="10363825" cy="2929874"/>
            <a:chOff x="-576577" y="-1227375"/>
            <a:chExt cx="10363825" cy="2929874"/>
          </a:xfrm>
        </p:grpSpPr>
        <p:pic>
          <p:nvPicPr>
            <p:cNvPr id="145" name="Google Shape;145;p19"/>
            <p:cNvPicPr preferRelativeResize="0"/>
            <p:nvPr/>
          </p:nvPicPr>
          <p:blipFill>
            <a:blip r:embed="rId3" cstate="print">
              <a:alphaModFix amt="52000"/>
            </a:blip>
            <a:stretch>
              <a:fillRect/>
            </a:stretch>
          </p:blipFill>
          <p:spPr>
            <a:xfrm flipH="1">
              <a:off x="7474223" y="-1184322"/>
              <a:ext cx="2313025" cy="251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9"/>
            <p:cNvPicPr preferRelativeResize="0"/>
            <p:nvPr/>
          </p:nvPicPr>
          <p:blipFill>
            <a:blip r:embed="rId4" cstate="print">
              <a:alphaModFix amt="57000"/>
            </a:blip>
            <a:stretch>
              <a:fillRect/>
            </a:stretch>
          </p:blipFill>
          <p:spPr>
            <a:xfrm>
              <a:off x="-576577" y="-12273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1;p20"/>
          <p:cNvGrpSpPr/>
          <p:nvPr/>
        </p:nvGrpSpPr>
        <p:grpSpPr>
          <a:xfrm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152" name="Google Shape;152;p2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0"/>
            <p:cNvPicPr preferRelativeResize="0"/>
            <p:nvPr/>
          </p:nvPicPr>
          <p:blipFill>
            <a:blip r:embed="rId4" cstate="print">
              <a:alphaModFix amt="47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7;p21"/>
          <p:cNvGrpSpPr/>
          <p:nvPr/>
        </p:nvGrpSpPr>
        <p:grpSpPr>
          <a:xfrm>
            <a:off x="-2260370" y="-3743099"/>
            <a:ext cx="14611870" cy="7885148"/>
            <a:chOff x="-2459845" y="-4046299"/>
            <a:chExt cx="14611870" cy="7885148"/>
          </a:xfrm>
        </p:grpSpPr>
        <p:pic>
          <p:nvPicPr>
            <p:cNvPr id="158" name="Google Shape;158;p21"/>
            <p:cNvPicPr preferRelativeResize="0"/>
            <p:nvPr/>
          </p:nvPicPr>
          <p:blipFill>
            <a:blip r:embed="rId3" cstate="print">
              <a:alphaModFix amt="32000"/>
            </a:blip>
            <a:stretch>
              <a:fillRect/>
            </a:stretch>
          </p:blipFill>
          <p:spPr>
            <a:xfrm rot="-10558877">
              <a:off x="-2298947" y="-1597926"/>
              <a:ext cx="3030302" cy="469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1"/>
            <p:cNvPicPr preferRelativeResize="0"/>
            <p:nvPr/>
          </p:nvPicPr>
          <p:blipFill>
            <a:blip r:embed="rId4" cstate="print">
              <a:alphaModFix amt="50000"/>
            </a:blip>
            <a:stretch>
              <a:fillRect/>
            </a:stretch>
          </p:blipFill>
          <p:spPr>
            <a:xfrm>
              <a:off x="8428901" y="-40462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4237673" y="1775425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title" idx="2" hasCustomPrompt="1"/>
          </p:nvPr>
        </p:nvSpPr>
        <p:spPr>
          <a:xfrm>
            <a:off x="2474011" y="1592863"/>
            <a:ext cx="2112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1"/>
          </p:nvPr>
        </p:nvSpPr>
        <p:spPr>
          <a:xfrm>
            <a:off x="4237673" y="314953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 cstate="print">
            <a:alphaModFix amt="49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7"/>
            <a:ext cx="9144003" cy="6094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4" cstate="print">
            <a:alphaModFix amt="44000"/>
          </a:blip>
          <a:stretch>
            <a:fillRect/>
          </a:stretch>
        </p:blipFill>
        <p:spPr>
          <a:xfrm>
            <a:off x="-844998" y="-1237050"/>
            <a:ext cx="4705600" cy="47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887557" y="1850495"/>
            <a:ext cx="29718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title" idx="2" hasCustomPrompt="1"/>
          </p:nvPr>
        </p:nvSpPr>
        <p:spPr>
          <a:xfrm>
            <a:off x="5091347" y="1436750"/>
            <a:ext cx="2165100" cy="18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1"/>
          </p:nvPr>
        </p:nvSpPr>
        <p:spPr>
          <a:xfrm>
            <a:off x="1892557" y="3192962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80;p25"/>
          <p:cNvGrpSpPr/>
          <p:nvPr/>
        </p:nvGrpSpPr>
        <p:grpSpPr>
          <a:xfrm>
            <a:off x="7353187" y="285158"/>
            <a:ext cx="1435761" cy="1460042"/>
            <a:chOff x="557362" y="374583"/>
            <a:chExt cx="1435761" cy="1460042"/>
          </a:xfrm>
        </p:grpSpPr>
        <p:pic>
          <p:nvPicPr>
            <p:cNvPr id="181" name="Google Shape;181;p25"/>
            <p:cNvPicPr preferRelativeResize="0"/>
            <p:nvPr/>
          </p:nvPicPr>
          <p:blipFill>
            <a:blip r:embed="rId4" cstate="print">
              <a:alphaModFix amt="49000"/>
            </a:blip>
            <a:stretch>
              <a:fillRect/>
            </a:stretch>
          </p:blipFill>
          <p:spPr>
            <a:xfrm>
              <a:off x="715100" y="5350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5"/>
            <p:cNvPicPr preferRelativeResize="0"/>
            <p:nvPr/>
          </p:nvPicPr>
          <p:blipFill>
            <a:blip r:embed="rId5" cstate="print">
              <a:alphaModFix amt="44000"/>
            </a:blip>
            <a:stretch>
              <a:fillRect/>
            </a:stretch>
          </p:blipFill>
          <p:spPr>
            <a:xfrm flipH="1">
              <a:off x="557362" y="3745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2655850" y="1107700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title" idx="2" hasCustomPrompt="1"/>
          </p:nvPr>
        </p:nvSpPr>
        <p:spPr>
          <a:xfrm>
            <a:off x="2996500" y="314725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" name="Google Shape;185;p25"/>
          <p:cNvSpPr txBox="1">
            <a:spLocks noGrp="1"/>
          </p:cNvSpPr>
          <p:nvPr>
            <p:ph type="subTitle" idx="1"/>
          </p:nvPr>
        </p:nvSpPr>
        <p:spPr>
          <a:xfrm>
            <a:off x="3187750" y="2483994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3992510" y="1565802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title" idx="2" hasCustomPrompt="1"/>
          </p:nvPr>
        </p:nvSpPr>
        <p:spPr>
          <a:xfrm>
            <a:off x="2265764" y="151451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1"/>
          </p:nvPr>
        </p:nvSpPr>
        <p:spPr>
          <a:xfrm>
            <a:off x="3992510" y="2929678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 header 5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94;p27"/>
          <p:cNvGrpSpPr/>
          <p:nvPr/>
        </p:nvGrpSpPr>
        <p:grpSpPr>
          <a:xfrm>
            <a:off x="-663524" y="-279925"/>
            <a:ext cx="5639853" cy="7085221"/>
            <a:chOff x="-663524" y="-279925"/>
            <a:chExt cx="5639853" cy="7085221"/>
          </a:xfrm>
        </p:grpSpPr>
        <p:pic>
          <p:nvPicPr>
            <p:cNvPr id="195" name="Google Shape;195;p27"/>
            <p:cNvPicPr preferRelativeResize="0"/>
            <p:nvPr/>
          </p:nvPicPr>
          <p:blipFill>
            <a:blip r:embed="rId3" cstate="print">
              <a:alphaModFix amt="26000"/>
            </a:blip>
            <a:stretch>
              <a:fillRect/>
            </a:stretch>
          </p:blipFill>
          <p:spPr>
            <a:xfrm rot="8851044" flipH="1">
              <a:off x="905324" y="16405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7"/>
            <p:cNvPicPr preferRelativeResize="0"/>
            <p:nvPr/>
          </p:nvPicPr>
          <p:blipFill>
            <a:blip r:embed="rId4" cstate="print">
              <a:alphaModFix amt="37000"/>
            </a:blip>
            <a:stretch>
              <a:fillRect/>
            </a:stretch>
          </p:blipFill>
          <p:spPr>
            <a:xfrm>
              <a:off x="1578325" y="-229924"/>
              <a:ext cx="660099" cy="671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7"/>
            <p:cNvPicPr preferRelativeResize="0"/>
            <p:nvPr/>
          </p:nvPicPr>
          <p:blipFill>
            <a:blip r:embed="rId5" cstate="print">
              <a:alphaModFix amt="33000"/>
            </a:blip>
            <a:stretch>
              <a:fillRect/>
            </a:stretch>
          </p:blipFill>
          <p:spPr>
            <a:xfrm flipH="1">
              <a:off x="-663524" y="-279925"/>
              <a:ext cx="1947024" cy="19800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1976457" y="1562421"/>
            <a:ext cx="31509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title" idx="2" hasCustomPrompt="1"/>
          </p:nvPr>
        </p:nvSpPr>
        <p:spPr>
          <a:xfrm>
            <a:off x="3748582" y="1549507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0" name="Google Shape;200;p27"/>
          <p:cNvSpPr txBox="1">
            <a:spLocks noGrp="1"/>
          </p:cNvSpPr>
          <p:nvPr>
            <p:ph type="subTitle" idx="1"/>
          </p:nvPr>
        </p:nvSpPr>
        <p:spPr>
          <a:xfrm>
            <a:off x="2155557" y="2933311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3865000" y="3575328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1"/>
          </p:nvPr>
        </p:nvSpPr>
        <p:spPr>
          <a:xfrm>
            <a:off x="2462250" y="1347275"/>
            <a:ext cx="5967000" cy="20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 cstate="print">
            <a:alphaModFix amt="21000"/>
          </a:blip>
          <a:stretch>
            <a:fillRect/>
          </a:stretch>
        </p:blipFill>
        <p:spPr>
          <a:xfrm rot="1586418">
            <a:off x="-764950" y="60749"/>
            <a:ext cx="3165078" cy="4906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8;p29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209" name="Google Shape;209;p29"/>
            <p:cNvPicPr preferRelativeResize="0"/>
            <p:nvPr/>
          </p:nvPicPr>
          <p:blipFill>
            <a:blip r:embed="rId3" cstate="print">
              <a:alphaModFix amt="44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9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9"/>
          <p:cNvSpPr txBox="1">
            <a:spLocks noGrp="1"/>
          </p:cNvSpPr>
          <p:nvPr>
            <p:ph type="subTitle" idx="1"/>
          </p:nvPr>
        </p:nvSpPr>
        <p:spPr>
          <a:xfrm>
            <a:off x="720000" y="3603150"/>
            <a:ext cx="2586600" cy="10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720000" y="2328775"/>
            <a:ext cx="25866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>
          <a:blip r:embed="rId3" cstate="print">
            <a:alphaModFix amt="17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0"/>
          <p:cNvSpPr txBox="1">
            <a:spLocks noGrp="1"/>
          </p:cNvSpPr>
          <p:nvPr>
            <p:ph type="subTitle" idx="1"/>
          </p:nvPr>
        </p:nvSpPr>
        <p:spPr>
          <a:xfrm>
            <a:off x="715100" y="2935500"/>
            <a:ext cx="31806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715100" y="1341800"/>
            <a:ext cx="3751800" cy="13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>
            <a:spLocks noGrp="1"/>
          </p:cNvSpPr>
          <p:nvPr>
            <p:ph type="subTitle" idx="1"/>
          </p:nvPr>
        </p:nvSpPr>
        <p:spPr>
          <a:xfrm>
            <a:off x="4263100" y="2740825"/>
            <a:ext cx="38208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4263100" y="1871650"/>
            <a:ext cx="3820800" cy="65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>
            <a:spLocks noGrp="1"/>
          </p:cNvSpPr>
          <p:nvPr>
            <p:ph type="subTitle" idx="1"/>
          </p:nvPr>
        </p:nvSpPr>
        <p:spPr>
          <a:xfrm>
            <a:off x="715100" y="1274025"/>
            <a:ext cx="7713900" cy="28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1" name="Google Shape;231;p33"/>
          <p:cNvSpPr txBox="1">
            <a:spLocks noGrp="1"/>
          </p:cNvSpPr>
          <p:nvPr>
            <p:ph type="subTitle" idx="1"/>
          </p:nvPr>
        </p:nvSpPr>
        <p:spPr>
          <a:xfrm>
            <a:off x="715100" y="1175650"/>
            <a:ext cx="40047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subTitle" idx="2"/>
          </p:nvPr>
        </p:nvSpPr>
        <p:spPr>
          <a:xfrm>
            <a:off x="4994900" y="1175650"/>
            <a:ext cx="34290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-753722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>
            <a:spLocks noGrp="1"/>
          </p:cNvSpPr>
          <p:nvPr>
            <p:ph type="subTitle" idx="1"/>
          </p:nvPr>
        </p:nvSpPr>
        <p:spPr>
          <a:xfrm>
            <a:off x="1290763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subTitle" idx="2"/>
          </p:nvPr>
        </p:nvSpPr>
        <p:spPr>
          <a:xfrm>
            <a:off x="4945638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subTitle" idx="3"/>
          </p:nvPr>
        </p:nvSpPr>
        <p:spPr>
          <a:xfrm>
            <a:off x="1290775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1" name="Google Shape;241;p34"/>
          <p:cNvSpPr txBox="1">
            <a:spLocks noGrp="1"/>
          </p:cNvSpPr>
          <p:nvPr>
            <p:ph type="subTitle" idx="4"/>
          </p:nvPr>
        </p:nvSpPr>
        <p:spPr>
          <a:xfrm>
            <a:off x="4945650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44;p35"/>
          <p:cNvGrpSpPr/>
          <p:nvPr/>
        </p:nvGrpSpPr>
        <p:grpSpPr>
          <a:xfrm flipH="1">
            <a:off x="-1059374" y="202758"/>
            <a:ext cx="9874808" cy="5928742"/>
            <a:chOff x="252562" y="222183"/>
            <a:chExt cx="9874808" cy="5928742"/>
          </a:xfrm>
        </p:grpSpPr>
        <p:pic>
          <p:nvPicPr>
            <p:cNvPr id="245" name="Google Shape;245;p35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35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35"/>
            <p:cNvPicPr preferRelativeResize="0"/>
            <p:nvPr/>
          </p:nvPicPr>
          <p:blipFill>
            <a:blip r:embed="rId5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4010875" y="1307100"/>
            <a:ext cx="4419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996263" y="3841453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6"/>
          <p:cNvSpPr txBox="1">
            <a:spLocks noGrp="1"/>
          </p:cNvSpPr>
          <p:nvPr>
            <p:ph type="body" idx="1"/>
          </p:nvPr>
        </p:nvSpPr>
        <p:spPr>
          <a:xfrm>
            <a:off x="2638050" y="1792100"/>
            <a:ext cx="3867900" cy="25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2638050" y="840725"/>
            <a:ext cx="27057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3620328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7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6802252" y="-21061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>
            <a:spLocks noGrp="1"/>
          </p:cNvSpPr>
          <p:nvPr>
            <p:ph type="subTitle" idx="1"/>
          </p:nvPr>
        </p:nvSpPr>
        <p:spPr>
          <a:xfrm>
            <a:off x="715100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0" name="Google Shape;260;p37"/>
          <p:cNvSpPr txBox="1">
            <a:spLocks noGrp="1"/>
          </p:cNvSpPr>
          <p:nvPr>
            <p:ph type="subTitle" idx="2"/>
          </p:nvPr>
        </p:nvSpPr>
        <p:spPr>
          <a:xfrm>
            <a:off x="4638325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">
  <p:cSld name="Title and eight columns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8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8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7" name="Google Shape;267;p38"/>
          <p:cNvSpPr txBox="1">
            <a:spLocks noGrp="1"/>
          </p:cNvSpPr>
          <p:nvPr>
            <p:ph type="subTitle" idx="1"/>
          </p:nvPr>
        </p:nvSpPr>
        <p:spPr>
          <a:xfrm>
            <a:off x="1881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8" name="Google Shape;268;p38"/>
          <p:cNvSpPr txBox="1">
            <a:spLocks noGrp="1"/>
          </p:cNvSpPr>
          <p:nvPr>
            <p:ph type="title" idx="2" hasCustomPrompt="1"/>
          </p:nvPr>
        </p:nvSpPr>
        <p:spPr>
          <a:xfrm>
            <a:off x="842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8"/>
          <p:cNvSpPr txBox="1">
            <a:spLocks noGrp="1"/>
          </p:cNvSpPr>
          <p:nvPr>
            <p:ph type="subTitle" idx="3"/>
          </p:nvPr>
        </p:nvSpPr>
        <p:spPr>
          <a:xfrm>
            <a:off x="1881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0" name="Google Shape;270;p38"/>
          <p:cNvSpPr txBox="1">
            <a:spLocks noGrp="1"/>
          </p:cNvSpPr>
          <p:nvPr>
            <p:ph type="title" idx="4" hasCustomPrompt="1"/>
          </p:nvPr>
        </p:nvSpPr>
        <p:spPr>
          <a:xfrm>
            <a:off x="842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38"/>
          <p:cNvSpPr txBox="1">
            <a:spLocks noGrp="1"/>
          </p:cNvSpPr>
          <p:nvPr>
            <p:ph type="subTitle" idx="5"/>
          </p:nvPr>
        </p:nvSpPr>
        <p:spPr>
          <a:xfrm>
            <a:off x="1881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2" name="Google Shape;272;p38"/>
          <p:cNvSpPr txBox="1">
            <a:spLocks noGrp="1"/>
          </p:cNvSpPr>
          <p:nvPr>
            <p:ph type="title" idx="6" hasCustomPrompt="1"/>
          </p:nvPr>
        </p:nvSpPr>
        <p:spPr>
          <a:xfrm>
            <a:off x="842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p38"/>
          <p:cNvSpPr txBox="1">
            <a:spLocks noGrp="1"/>
          </p:cNvSpPr>
          <p:nvPr>
            <p:ph type="subTitle" idx="7"/>
          </p:nvPr>
        </p:nvSpPr>
        <p:spPr>
          <a:xfrm>
            <a:off x="1881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4" name="Google Shape;274;p38"/>
          <p:cNvSpPr txBox="1">
            <a:spLocks noGrp="1"/>
          </p:cNvSpPr>
          <p:nvPr>
            <p:ph type="title" idx="8" hasCustomPrompt="1"/>
          </p:nvPr>
        </p:nvSpPr>
        <p:spPr>
          <a:xfrm>
            <a:off x="842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38"/>
          <p:cNvSpPr txBox="1">
            <a:spLocks noGrp="1"/>
          </p:cNvSpPr>
          <p:nvPr>
            <p:ph type="subTitle" idx="9"/>
          </p:nvPr>
        </p:nvSpPr>
        <p:spPr>
          <a:xfrm>
            <a:off x="5770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6" name="Google Shape;276;p38"/>
          <p:cNvSpPr txBox="1">
            <a:spLocks noGrp="1"/>
          </p:cNvSpPr>
          <p:nvPr>
            <p:ph type="title" idx="13" hasCustomPrompt="1"/>
          </p:nvPr>
        </p:nvSpPr>
        <p:spPr>
          <a:xfrm>
            <a:off x="4731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38"/>
          <p:cNvSpPr txBox="1">
            <a:spLocks noGrp="1"/>
          </p:cNvSpPr>
          <p:nvPr>
            <p:ph type="subTitle" idx="14"/>
          </p:nvPr>
        </p:nvSpPr>
        <p:spPr>
          <a:xfrm>
            <a:off x="5770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8" name="Google Shape;278;p38"/>
          <p:cNvSpPr txBox="1">
            <a:spLocks noGrp="1"/>
          </p:cNvSpPr>
          <p:nvPr>
            <p:ph type="title" idx="15" hasCustomPrompt="1"/>
          </p:nvPr>
        </p:nvSpPr>
        <p:spPr>
          <a:xfrm>
            <a:off x="4731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38"/>
          <p:cNvSpPr txBox="1">
            <a:spLocks noGrp="1"/>
          </p:cNvSpPr>
          <p:nvPr>
            <p:ph type="subTitle" idx="16"/>
          </p:nvPr>
        </p:nvSpPr>
        <p:spPr>
          <a:xfrm>
            <a:off x="5770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0" name="Google Shape;280;p38"/>
          <p:cNvSpPr txBox="1">
            <a:spLocks noGrp="1"/>
          </p:cNvSpPr>
          <p:nvPr>
            <p:ph type="title" idx="17" hasCustomPrompt="1"/>
          </p:nvPr>
        </p:nvSpPr>
        <p:spPr>
          <a:xfrm>
            <a:off x="4731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81" name="Google Shape;281;p38"/>
          <p:cNvSpPr txBox="1">
            <a:spLocks noGrp="1"/>
          </p:cNvSpPr>
          <p:nvPr>
            <p:ph type="subTitle" idx="18"/>
          </p:nvPr>
        </p:nvSpPr>
        <p:spPr>
          <a:xfrm>
            <a:off x="5770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title" idx="19" hasCustomPrompt="1"/>
          </p:nvPr>
        </p:nvSpPr>
        <p:spPr>
          <a:xfrm>
            <a:off x="4731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9"/>
          <p:cNvSpPr txBox="1">
            <a:spLocks noGrp="1"/>
          </p:cNvSpPr>
          <p:nvPr>
            <p:ph type="subTitle" idx="1"/>
          </p:nvPr>
        </p:nvSpPr>
        <p:spPr>
          <a:xfrm>
            <a:off x="715100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8" name="Google Shape;288;p39"/>
          <p:cNvSpPr txBox="1">
            <a:spLocks noGrp="1"/>
          </p:cNvSpPr>
          <p:nvPr>
            <p:ph type="subTitle" idx="2"/>
          </p:nvPr>
        </p:nvSpPr>
        <p:spPr>
          <a:xfrm>
            <a:off x="4638325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9" name="Google Shape;289;p3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0" name="Google Shape;290;p39"/>
          <p:cNvSpPr txBox="1">
            <a:spLocks noGrp="1"/>
          </p:cNvSpPr>
          <p:nvPr>
            <p:ph type="title" idx="3"/>
          </p:nvPr>
        </p:nvSpPr>
        <p:spPr>
          <a:xfrm>
            <a:off x="715100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1" name="Google Shape;291;p39"/>
          <p:cNvSpPr txBox="1">
            <a:spLocks noGrp="1"/>
          </p:cNvSpPr>
          <p:nvPr>
            <p:ph type="title" idx="4"/>
          </p:nvPr>
        </p:nvSpPr>
        <p:spPr>
          <a:xfrm>
            <a:off x="4638325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0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>
            <a:spLocks noGrp="1"/>
          </p:cNvSpPr>
          <p:nvPr>
            <p:ph type="title"/>
          </p:nvPr>
        </p:nvSpPr>
        <p:spPr>
          <a:xfrm>
            <a:off x="7200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6" name="Google Shape;296;p40"/>
          <p:cNvSpPr txBox="1">
            <a:spLocks noGrp="1"/>
          </p:cNvSpPr>
          <p:nvPr>
            <p:ph type="subTitle" idx="1"/>
          </p:nvPr>
        </p:nvSpPr>
        <p:spPr>
          <a:xfrm>
            <a:off x="7200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7" name="Google Shape;297;p40"/>
          <p:cNvSpPr txBox="1">
            <a:spLocks noGrp="1"/>
          </p:cNvSpPr>
          <p:nvPr>
            <p:ph type="title" idx="2"/>
          </p:nvPr>
        </p:nvSpPr>
        <p:spPr>
          <a:xfrm>
            <a:off x="34038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8" name="Google Shape;298;p40"/>
          <p:cNvSpPr txBox="1">
            <a:spLocks noGrp="1"/>
          </p:cNvSpPr>
          <p:nvPr>
            <p:ph type="subTitle" idx="3"/>
          </p:nvPr>
        </p:nvSpPr>
        <p:spPr>
          <a:xfrm>
            <a:off x="34038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40"/>
          <p:cNvSpPr txBox="1">
            <a:spLocks noGrp="1"/>
          </p:cNvSpPr>
          <p:nvPr>
            <p:ph type="title" idx="4"/>
          </p:nvPr>
        </p:nvSpPr>
        <p:spPr>
          <a:xfrm>
            <a:off x="60876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0" name="Google Shape;300;p40"/>
          <p:cNvSpPr txBox="1">
            <a:spLocks noGrp="1"/>
          </p:cNvSpPr>
          <p:nvPr>
            <p:ph type="subTitle" idx="5"/>
          </p:nvPr>
        </p:nvSpPr>
        <p:spPr>
          <a:xfrm>
            <a:off x="60876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1"/>
          <p:cNvSpPr txBox="1">
            <a:spLocks noGrp="1"/>
          </p:cNvSpPr>
          <p:nvPr>
            <p:ph type="title"/>
          </p:nvPr>
        </p:nvSpPr>
        <p:spPr>
          <a:xfrm>
            <a:off x="717125" y="2594825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5" name="Google Shape;305;p41"/>
          <p:cNvSpPr txBox="1">
            <a:spLocks noGrp="1"/>
          </p:cNvSpPr>
          <p:nvPr>
            <p:ph type="subTitle" idx="1"/>
          </p:nvPr>
        </p:nvSpPr>
        <p:spPr>
          <a:xfrm>
            <a:off x="719988" y="3312525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41"/>
          <p:cNvSpPr txBox="1">
            <a:spLocks noGrp="1"/>
          </p:cNvSpPr>
          <p:nvPr>
            <p:ph type="title" idx="2"/>
          </p:nvPr>
        </p:nvSpPr>
        <p:spPr>
          <a:xfrm>
            <a:off x="3395188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7" name="Google Shape;307;p41"/>
          <p:cNvSpPr txBox="1">
            <a:spLocks noGrp="1"/>
          </p:cNvSpPr>
          <p:nvPr>
            <p:ph type="subTitle" idx="3"/>
          </p:nvPr>
        </p:nvSpPr>
        <p:spPr>
          <a:xfrm>
            <a:off x="3395188" y="331260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8" name="Google Shape;308;p41"/>
          <p:cNvSpPr txBox="1">
            <a:spLocks noGrp="1"/>
          </p:cNvSpPr>
          <p:nvPr>
            <p:ph type="title" idx="4"/>
          </p:nvPr>
        </p:nvSpPr>
        <p:spPr>
          <a:xfrm>
            <a:off x="6070363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9" name="Google Shape;309;p41"/>
          <p:cNvSpPr txBox="1">
            <a:spLocks noGrp="1"/>
          </p:cNvSpPr>
          <p:nvPr>
            <p:ph type="subTitle" idx="5"/>
          </p:nvPr>
        </p:nvSpPr>
        <p:spPr>
          <a:xfrm>
            <a:off x="6070363" y="331215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41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3" cstate="print">
            <a:alphaModFix amt="32000"/>
          </a:blip>
          <a:stretch>
            <a:fillRect/>
          </a:stretch>
        </p:blipFill>
        <p:spPr>
          <a:xfrm>
            <a:off x="-1019777" y="-1847072"/>
            <a:ext cx="2313025" cy="251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/>
          <p:cNvPicPr preferRelativeResize="0"/>
          <p:nvPr/>
        </p:nvPicPr>
        <p:blipFill>
          <a:blip r:embed="rId4" cstate="print">
            <a:alphaModFix amt="30000"/>
          </a:blip>
          <a:stretch>
            <a:fillRect/>
          </a:stretch>
        </p:blipFill>
        <p:spPr>
          <a:xfrm>
            <a:off x="6988285" y="-2018700"/>
            <a:ext cx="2881223" cy="292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2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-702089">
            <a:off x="-734167" y="792101"/>
            <a:ext cx="771713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>
            <a:spLocks noGrp="1"/>
          </p:cNvSpPr>
          <p:nvPr>
            <p:ph type="title"/>
          </p:nvPr>
        </p:nvSpPr>
        <p:spPr>
          <a:xfrm>
            <a:off x="7200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1"/>
          </p:nvPr>
        </p:nvSpPr>
        <p:spPr>
          <a:xfrm>
            <a:off x="9246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42"/>
          <p:cNvSpPr txBox="1">
            <a:spLocks noGrp="1"/>
          </p:cNvSpPr>
          <p:nvPr>
            <p:ph type="title" idx="2"/>
          </p:nvPr>
        </p:nvSpPr>
        <p:spPr>
          <a:xfrm>
            <a:off x="34038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9" name="Google Shape;319;p42"/>
          <p:cNvSpPr txBox="1">
            <a:spLocks noGrp="1"/>
          </p:cNvSpPr>
          <p:nvPr>
            <p:ph type="subTitle" idx="3"/>
          </p:nvPr>
        </p:nvSpPr>
        <p:spPr>
          <a:xfrm>
            <a:off x="36084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0" name="Google Shape;320;p42"/>
          <p:cNvSpPr txBox="1">
            <a:spLocks noGrp="1"/>
          </p:cNvSpPr>
          <p:nvPr>
            <p:ph type="title" idx="4"/>
          </p:nvPr>
        </p:nvSpPr>
        <p:spPr>
          <a:xfrm>
            <a:off x="60876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1" name="Google Shape;321;p42"/>
          <p:cNvSpPr txBox="1">
            <a:spLocks noGrp="1"/>
          </p:cNvSpPr>
          <p:nvPr>
            <p:ph type="subTitle" idx="5"/>
          </p:nvPr>
        </p:nvSpPr>
        <p:spPr>
          <a:xfrm>
            <a:off x="62922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2" name="Google Shape;322;p42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25;p43"/>
          <p:cNvGrpSpPr/>
          <p:nvPr/>
        </p:nvGrpSpPr>
        <p:grpSpPr>
          <a:xfrm>
            <a:off x="-2630529" y="-1513088"/>
            <a:ext cx="13086688" cy="8065884"/>
            <a:chOff x="-2630529" y="-1513088"/>
            <a:chExt cx="13086688" cy="8065884"/>
          </a:xfrm>
        </p:grpSpPr>
        <p:pic>
          <p:nvPicPr>
            <p:cNvPr id="326" name="Google Shape;326;p43"/>
            <p:cNvPicPr preferRelativeResize="0"/>
            <p:nvPr/>
          </p:nvPicPr>
          <p:blipFill>
            <a:blip r:embed="rId3" cstate="print">
              <a:alphaModFix amt="30000"/>
            </a:blip>
            <a:stretch>
              <a:fillRect/>
            </a:stretch>
          </p:blipFill>
          <p:spPr>
            <a:xfrm rot="8851044" flipH="1">
              <a:off x="-1601951" y="13880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43"/>
            <p:cNvPicPr preferRelativeResize="0"/>
            <p:nvPr/>
          </p:nvPicPr>
          <p:blipFill>
            <a:blip r:embed="rId4" cstate="print">
              <a:alphaModFix amt="13000"/>
            </a:blip>
            <a:stretch>
              <a:fillRect/>
            </a:stretch>
          </p:blipFill>
          <p:spPr>
            <a:xfrm rot="-5400000">
              <a:off x="7611947" y="-1658325"/>
              <a:ext cx="2698976" cy="298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43"/>
            <p:cNvPicPr preferRelativeResize="0"/>
            <p:nvPr/>
          </p:nvPicPr>
          <p:blipFill>
            <a:blip r:embed="rId5" cstate="print">
              <a:alphaModFix amt="41000"/>
            </a:blip>
            <a:stretch>
              <a:fillRect/>
            </a:stretch>
          </p:blipFill>
          <p:spPr>
            <a:xfrm>
              <a:off x="1090275" y="95587"/>
              <a:ext cx="432124" cy="439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43"/>
            <p:cNvPicPr preferRelativeResize="0"/>
            <p:nvPr/>
          </p:nvPicPr>
          <p:blipFill>
            <a:blip r:embed="rId6" cstate="print">
              <a:alphaModFix amt="38000"/>
            </a:blip>
            <a:stretch>
              <a:fillRect/>
            </a:stretch>
          </p:blipFill>
          <p:spPr>
            <a:xfrm flipH="1">
              <a:off x="169348" y="471744"/>
              <a:ext cx="920927" cy="9365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>
            <a:off x="8724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1" name="Google Shape;331;p43"/>
          <p:cNvSpPr txBox="1">
            <a:spLocks noGrp="1"/>
          </p:cNvSpPr>
          <p:nvPr>
            <p:ph type="subTitle" idx="1"/>
          </p:nvPr>
        </p:nvSpPr>
        <p:spPr>
          <a:xfrm>
            <a:off x="8724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2" name="Google Shape;332;p43"/>
          <p:cNvSpPr txBox="1">
            <a:spLocks noGrp="1"/>
          </p:cNvSpPr>
          <p:nvPr>
            <p:ph type="title" idx="2"/>
          </p:nvPr>
        </p:nvSpPr>
        <p:spPr>
          <a:xfrm>
            <a:off x="34038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3" name="Google Shape;333;p43"/>
          <p:cNvSpPr txBox="1">
            <a:spLocks noGrp="1"/>
          </p:cNvSpPr>
          <p:nvPr>
            <p:ph type="subTitle" idx="3"/>
          </p:nvPr>
        </p:nvSpPr>
        <p:spPr>
          <a:xfrm>
            <a:off x="34038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4" name="Google Shape;334;p43"/>
          <p:cNvSpPr txBox="1">
            <a:spLocks noGrp="1"/>
          </p:cNvSpPr>
          <p:nvPr>
            <p:ph type="title" idx="4"/>
          </p:nvPr>
        </p:nvSpPr>
        <p:spPr>
          <a:xfrm>
            <a:off x="59352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5" name="Google Shape;335;p43"/>
          <p:cNvSpPr txBox="1">
            <a:spLocks noGrp="1"/>
          </p:cNvSpPr>
          <p:nvPr>
            <p:ph type="subTitle" idx="5"/>
          </p:nvPr>
        </p:nvSpPr>
        <p:spPr>
          <a:xfrm>
            <a:off x="59352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43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39;p44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340" name="Google Shape;340;p44"/>
            <p:cNvPicPr preferRelativeResize="0"/>
            <p:nvPr/>
          </p:nvPicPr>
          <p:blipFill>
            <a:blip r:embed="rId3" cstate="print">
              <a:alphaModFix amt="27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44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2" name="Google Shape;342;p44"/>
          <p:cNvSpPr txBox="1">
            <a:spLocks noGrp="1"/>
          </p:cNvSpPr>
          <p:nvPr>
            <p:ph type="title"/>
          </p:nvPr>
        </p:nvSpPr>
        <p:spPr>
          <a:xfrm>
            <a:off x="72792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3" name="Google Shape;343;p44"/>
          <p:cNvSpPr txBox="1">
            <a:spLocks noGrp="1"/>
          </p:cNvSpPr>
          <p:nvPr>
            <p:ph type="subTitle" idx="1"/>
          </p:nvPr>
        </p:nvSpPr>
        <p:spPr>
          <a:xfrm>
            <a:off x="82587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4" name="Google Shape;344;p44"/>
          <p:cNvSpPr txBox="1">
            <a:spLocks noGrp="1"/>
          </p:cNvSpPr>
          <p:nvPr>
            <p:ph type="title" idx="2"/>
          </p:nvPr>
        </p:nvSpPr>
        <p:spPr>
          <a:xfrm>
            <a:off x="465997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5" name="Google Shape;345;p44"/>
          <p:cNvSpPr txBox="1">
            <a:spLocks noGrp="1"/>
          </p:cNvSpPr>
          <p:nvPr>
            <p:ph type="subTitle" idx="3"/>
          </p:nvPr>
        </p:nvSpPr>
        <p:spPr>
          <a:xfrm>
            <a:off x="475792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6" name="Google Shape;346;p44"/>
          <p:cNvSpPr txBox="1">
            <a:spLocks noGrp="1"/>
          </p:cNvSpPr>
          <p:nvPr>
            <p:ph type="title" idx="4"/>
          </p:nvPr>
        </p:nvSpPr>
        <p:spPr>
          <a:xfrm>
            <a:off x="269395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7" name="Google Shape;347;p44"/>
          <p:cNvSpPr txBox="1">
            <a:spLocks noGrp="1"/>
          </p:cNvSpPr>
          <p:nvPr>
            <p:ph type="subTitle" idx="5"/>
          </p:nvPr>
        </p:nvSpPr>
        <p:spPr>
          <a:xfrm>
            <a:off x="279190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44"/>
          <p:cNvSpPr txBox="1">
            <a:spLocks noGrp="1"/>
          </p:cNvSpPr>
          <p:nvPr>
            <p:ph type="title" idx="6"/>
          </p:nvPr>
        </p:nvSpPr>
        <p:spPr>
          <a:xfrm>
            <a:off x="662600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9" name="Google Shape;349;p44"/>
          <p:cNvSpPr txBox="1">
            <a:spLocks noGrp="1"/>
          </p:cNvSpPr>
          <p:nvPr>
            <p:ph type="subTitle" idx="7"/>
          </p:nvPr>
        </p:nvSpPr>
        <p:spPr>
          <a:xfrm>
            <a:off x="672395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0" name="Google Shape;350;p44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53;p45"/>
          <p:cNvGrpSpPr/>
          <p:nvPr/>
        </p:nvGrpSpPr>
        <p:grpSpPr>
          <a:xfrm>
            <a:off x="-891002" y="-1475725"/>
            <a:ext cx="10578908" cy="2929874"/>
            <a:chOff x="-891002" y="-1228775"/>
            <a:chExt cx="10578908" cy="2929874"/>
          </a:xfrm>
        </p:grpSpPr>
        <p:pic>
          <p:nvPicPr>
            <p:cNvPr id="354" name="Google Shape;354;p4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4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45"/>
          <p:cNvSpPr txBox="1">
            <a:spLocks noGrp="1"/>
          </p:cNvSpPr>
          <p:nvPr>
            <p:ph type="title"/>
          </p:nvPr>
        </p:nvSpPr>
        <p:spPr>
          <a:xfrm>
            <a:off x="7200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7" name="Google Shape;357;p45"/>
          <p:cNvSpPr txBox="1">
            <a:spLocks noGrp="1"/>
          </p:cNvSpPr>
          <p:nvPr>
            <p:ph type="subTitle" idx="1"/>
          </p:nvPr>
        </p:nvSpPr>
        <p:spPr>
          <a:xfrm>
            <a:off x="7200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8" name="Google Shape;358;p45"/>
          <p:cNvSpPr txBox="1">
            <a:spLocks noGrp="1"/>
          </p:cNvSpPr>
          <p:nvPr>
            <p:ph type="title" idx="2"/>
          </p:nvPr>
        </p:nvSpPr>
        <p:spPr>
          <a:xfrm>
            <a:off x="3419269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9" name="Google Shape;359;p45"/>
          <p:cNvSpPr txBox="1">
            <a:spLocks noGrp="1"/>
          </p:cNvSpPr>
          <p:nvPr>
            <p:ph type="subTitle" idx="3"/>
          </p:nvPr>
        </p:nvSpPr>
        <p:spPr>
          <a:xfrm>
            <a:off x="3419269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45"/>
          <p:cNvSpPr txBox="1">
            <a:spLocks noGrp="1"/>
          </p:cNvSpPr>
          <p:nvPr>
            <p:ph type="title" idx="4"/>
          </p:nvPr>
        </p:nvSpPr>
        <p:spPr>
          <a:xfrm>
            <a:off x="7200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1" name="Google Shape;361;p45"/>
          <p:cNvSpPr txBox="1">
            <a:spLocks noGrp="1"/>
          </p:cNvSpPr>
          <p:nvPr>
            <p:ph type="subTitle" idx="5"/>
          </p:nvPr>
        </p:nvSpPr>
        <p:spPr>
          <a:xfrm>
            <a:off x="7200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45"/>
          <p:cNvSpPr txBox="1">
            <a:spLocks noGrp="1"/>
          </p:cNvSpPr>
          <p:nvPr>
            <p:ph type="title" idx="6"/>
          </p:nvPr>
        </p:nvSpPr>
        <p:spPr>
          <a:xfrm>
            <a:off x="3419269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3" name="Google Shape;363;p45"/>
          <p:cNvSpPr txBox="1">
            <a:spLocks noGrp="1"/>
          </p:cNvSpPr>
          <p:nvPr>
            <p:ph type="subTitle" idx="7"/>
          </p:nvPr>
        </p:nvSpPr>
        <p:spPr>
          <a:xfrm>
            <a:off x="3419269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4" name="Google Shape;364;p45"/>
          <p:cNvSpPr txBox="1">
            <a:spLocks noGrp="1"/>
          </p:cNvSpPr>
          <p:nvPr>
            <p:ph type="title" idx="8"/>
          </p:nvPr>
        </p:nvSpPr>
        <p:spPr>
          <a:xfrm>
            <a:off x="6118545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5" name="Google Shape;365;p45"/>
          <p:cNvSpPr txBox="1">
            <a:spLocks noGrp="1"/>
          </p:cNvSpPr>
          <p:nvPr>
            <p:ph type="subTitle" idx="9"/>
          </p:nvPr>
        </p:nvSpPr>
        <p:spPr>
          <a:xfrm>
            <a:off x="6118545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6" name="Google Shape;366;p45"/>
          <p:cNvSpPr txBox="1">
            <a:spLocks noGrp="1"/>
          </p:cNvSpPr>
          <p:nvPr>
            <p:ph type="title" idx="13"/>
          </p:nvPr>
        </p:nvSpPr>
        <p:spPr>
          <a:xfrm>
            <a:off x="6118545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7" name="Google Shape;367;p45"/>
          <p:cNvSpPr txBox="1">
            <a:spLocks noGrp="1"/>
          </p:cNvSpPr>
          <p:nvPr>
            <p:ph type="subTitle" idx="14"/>
          </p:nvPr>
        </p:nvSpPr>
        <p:spPr>
          <a:xfrm>
            <a:off x="6118545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 idx="15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71;p46"/>
          <p:cNvGrpSpPr/>
          <p:nvPr/>
        </p:nvGrpSpPr>
        <p:grpSpPr>
          <a:xfrm>
            <a:off x="-1203759" y="-1310750"/>
            <a:ext cx="10783080" cy="7374679"/>
            <a:chOff x="-1203759" y="-1063800"/>
            <a:chExt cx="10783080" cy="7374679"/>
          </a:xfrm>
        </p:grpSpPr>
        <p:pic>
          <p:nvPicPr>
            <p:cNvPr id="372" name="Google Shape;372;p4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6698098" y="-10638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4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-467876" y="390012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" name="Google Shape;374;p46"/>
          <p:cNvSpPr txBox="1">
            <a:spLocks noGrp="1"/>
          </p:cNvSpPr>
          <p:nvPr>
            <p:ph type="title"/>
          </p:nvPr>
        </p:nvSpPr>
        <p:spPr>
          <a:xfrm>
            <a:off x="19119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5" name="Google Shape;375;p46"/>
          <p:cNvSpPr txBox="1">
            <a:spLocks noGrp="1"/>
          </p:cNvSpPr>
          <p:nvPr>
            <p:ph type="subTitle" idx="1"/>
          </p:nvPr>
        </p:nvSpPr>
        <p:spPr>
          <a:xfrm>
            <a:off x="19119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6" name="Google Shape;376;p46"/>
          <p:cNvSpPr txBox="1">
            <a:spLocks noGrp="1"/>
          </p:cNvSpPr>
          <p:nvPr>
            <p:ph type="title" idx="2"/>
          </p:nvPr>
        </p:nvSpPr>
        <p:spPr>
          <a:xfrm>
            <a:off x="4926594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7" name="Google Shape;377;p46"/>
          <p:cNvSpPr txBox="1">
            <a:spLocks noGrp="1"/>
          </p:cNvSpPr>
          <p:nvPr>
            <p:ph type="subTitle" idx="3"/>
          </p:nvPr>
        </p:nvSpPr>
        <p:spPr>
          <a:xfrm>
            <a:off x="4926594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8" name="Google Shape;378;p46"/>
          <p:cNvSpPr txBox="1">
            <a:spLocks noGrp="1"/>
          </p:cNvSpPr>
          <p:nvPr>
            <p:ph type="title" idx="4"/>
          </p:nvPr>
        </p:nvSpPr>
        <p:spPr>
          <a:xfrm>
            <a:off x="19119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9" name="Google Shape;379;p46"/>
          <p:cNvSpPr txBox="1">
            <a:spLocks noGrp="1"/>
          </p:cNvSpPr>
          <p:nvPr>
            <p:ph type="subTitle" idx="5"/>
          </p:nvPr>
        </p:nvSpPr>
        <p:spPr>
          <a:xfrm>
            <a:off x="19119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46"/>
          <p:cNvSpPr txBox="1">
            <a:spLocks noGrp="1"/>
          </p:cNvSpPr>
          <p:nvPr>
            <p:ph type="title" idx="6"/>
          </p:nvPr>
        </p:nvSpPr>
        <p:spPr>
          <a:xfrm>
            <a:off x="4926594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1" name="Google Shape;381;p46"/>
          <p:cNvSpPr txBox="1">
            <a:spLocks noGrp="1"/>
          </p:cNvSpPr>
          <p:nvPr>
            <p:ph type="subTitle" idx="7"/>
          </p:nvPr>
        </p:nvSpPr>
        <p:spPr>
          <a:xfrm>
            <a:off x="4926594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2" name="Google Shape;382;p46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5" name="Google Shape;385;p47"/>
          <p:cNvSpPr txBox="1">
            <a:spLocks noGrp="1"/>
          </p:cNvSpPr>
          <p:nvPr>
            <p:ph type="title" idx="2"/>
          </p:nvPr>
        </p:nvSpPr>
        <p:spPr>
          <a:xfrm>
            <a:off x="1104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6" name="Google Shape;386;p47"/>
          <p:cNvSpPr txBox="1">
            <a:spLocks noGrp="1"/>
          </p:cNvSpPr>
          <p:nvPr>
            <p:ph type="subTitle" idx="1"/>
          </p:nvPr>
        </p:nvSpPr>
        <p:spPr>
          <a:xfrm>
            <a:off x="7165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7" name="Google Shape;387;p47"/>
          <p:cNvSpPr txBox="1">
            <a:spLocks noGrp="1"/>
          </p:cNvSpPr>
          <p:nvPr>
            <p:ph type="title" idx="3"/>
          </p:nvPr>
        </p:nvSpPr>
        <p:spPr>
          <a:xfrm>
            <a:off x="5137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8" name="Google Shape;388;p47"/>
          <p:cNvSpPr txBox="1">
            <a:spLocks noGrp="1"/>
          </p:cNvSpPr>
          <p:nvPr>
            <p:ph type="subTitle" idx="4"/>
          </p:nvPr>
        </p:nvSpPr>
        <p:spPr>
          <a:xfrm>
            <a:off x="46828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9" name="Google Shape;389;p47"/>
          <p:cNvSpPr txBox="1">
            <a:spLocks noGrp="1"/>
          </p:cNvSpPr>
          <p:nvPr>
            <p:ph type="title" idx="5"/>
          </p:nvPr>
        </p:nvSpPr>
        <p:spPr>
          <a:xfrm>
            <a:off x="1104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0" name="Google Shape;390;p47"/>
          <p:cNvSpPr txBox="1">
            <a:spLocks noGrp="1"/>
          </p:cNvSpPr>
          <p:nvPr>
            <p:ph type="subTitle" idx="6"/>
          </p:nvPr>
        </p:nvSpPr>
        <p:spPr>
          <a:xfrm>
            <a:off x="7165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1" name="Google Shape;391;p47"/>
          <p:cNvSpPr txBox="1">
            <a:spLocks noGrp="1"/>
          </p:cNvSpPr>
          <p:nvPr>
            <p:ph type="title" idx="7"/>
          </p:nvPr>
        </p:nvSpPr>
        <p:spPr>
          <a:xfrm>
            <a:off x="5137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2" name="Google Shape;392;p47"/>
          <p:cNvSpPr txBox="1">
            <a:spLocks noGrp="1"/>
          </p:cNvSpPr>
          <p:nvPr>
            <p:ph type="subTitle" idx="8"/>
          </p:nvPr>
        </p:nvSpPr>
        <p:spPr>
          <a:xfrm>
            <a:off x="46828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393;p47"/>
          <p:cNvGrpSpPr/>
          <p:nvPr/>
        </p:nvGrpSpPr>
        <p:grpSpPr>
          <a:xfrm rot="10800000" flipH="1">
            <a:off x="-891002" y="-794254"/>
            <a:ext cx="10578908" cy="3143404"/>
            <a:chOff x="-891002" y="-1020125"/>
            <a:chExt cx="10578908" cy="3143404"/>
          </a:xfrm>
        </p:grpSpPr>
        <p:pic>
          <p:nvPicPr>
            <p:cNvPr id="394" name="Google Shape;394;p47"/>
            <p:cNvPicPr preferRelativeResize="0"/>
            <p:nvPr/>
          </p:nvPicPr>
          <p:blipFill>
            <a:blip r:embed="rId2" cstate="print">
              <a:alphaModFix amt="29000"/>
            </a:blip>
            <a:stretch>
              <a:fillRect/>
            </a:stretch>
          </p:blipFill>
          <p:spPr>
            <a:xfrm>
              <a:off x="-891002" y="-10201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47"/>
            <p:cNvPicPr preferRelativeResize="0"/>
            <p:nvPr/>
          </p:nvPicPr>
          <p:blipFill>
            <a:blip r:embed="rId3" cstate="print">
              <a:alphaModFix amt="43000"/>
            </a:blip>
            <a:stretch>
              <a:fillRect/>
            </a:stretch>
          </p:blipFill>
          <p:spPr>
            <a:xfrm rot="4408896">
              <a:off x="7465724" y="-2874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98;p48"/>
          <p:cNvGrpSpPr/>
          <p:nvPr/>
        </p:nvGrpSpPr>
        <p:grpSpPr>
          <a:xfrm rot="10800000" flipH="1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399" name="Google Shape;399;p48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48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1" name="Google Shape;401;p48"/>
          <p:cNvSpPr txBox="1">
            <a:spLocks noGrp="1"/>
          </p:cNvSpPr>
          <p:nvPr>
            <p:ph type="title"/>
          </p:nvPr>
        </p:nvSpPr>
        <p:spPr>
          <a:xfrm>
            <a:off x="720000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2" name="Google Shape;402;p48"/>
          <p:cNvSpPr txBox="1">
            <a:spLocks noGrp="1"/>
          </p:cNvSpPr>
          <p:nvPr>
            <p:ph type="subTitle" idx="1"/>
          </p:nvPr>
        </p:nvSpPr>
        <p:spPr>
          <a:xfrm>
            <a:off x="720000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3" name="Google Shape;403;p48"/>
          <p:cNvSpPr txBox="1">
            <a:spLocks noGrp="1"/>
          </p:cNvSpPr>
          <p:nvPr>
            <p:ph type="title" idx="2"/>
          </p:nvPr>
        </p:nvSpPr>
        <p:spPr>
          <a:xfrm>
            <a:off x="3419269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4" name="Google Shape;404;p48"/>
          <p:cNvSpPr txBox="1">
            <a:spLocks noGrp="1"/>
          </p:cNvSpPr>
          <p:nvPr>
            <p:ph type="subTitle" idx="3"/>
          </p:nvPr>
        </p:nvSpPr>
        <p:spPr>
          <a:xfrm>
            <a:off x="3419269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5" name="Google Shape;405;p48"/>
          <p:cNvSpPr txBox="1">
            <a:spLocks noGrp="1"/>
          </p:cNvSpPr>
          <p:nvPr>
            <p:ph type="title" idx="4"/>
          </p:nvPr>
        </p:nvSpPr>
        <p:spPr>
          <a:xfrm>
            <a:off x="2069638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6" name="Google Shape;406;p48"/>
          <p:cNvSpPr txBox="1">
            <a:spLocks noGrp="1"/>
          </p:cNvSpPr>
          <p:nvPr>
            <p:ph type="subTitle" idx="5"/>
          </p:nvPr>
        </p:nvSpPr>
        <p:spPr>
          <a:xfrm>
            <a:off x="2069638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7" name="Google Shape;407;p48"/>
          <p:cNvSpPr txBox="1">
            <a:spLocks noGrp="1"/>
          </p:cNvSpPr>
          <p:nvPr>
            <p:ph type="title" idx="6"/>
          </p:nvPr>
        </p:nvSpPr>
        <p:spPr>
          <a:xfrm>
            <a:off x="4768907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8" name="Google Shape;408;p48"/>
          <p:cNvSpPr txBox="1">
            <a:spLocks noGrp="1"/>
          </p:cNvSpPr>
          <p:nvPr>
            <p:ph type="subTitle" idx="7"/>
          </p:nvPr>
        </p:nvSpPr>
        <p:spPr>
          <a:xfrm>
            <a:off x="4768907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9" name="Google Shape;409;p48"/>
          <p:cNvSpPr txBox="1">
            <a:spLocks noGrp="1"/>
          </p:cNvSpPr>
          <p:nvPr>
            <p:ph type="title" idx="8"/>
          </p:nvPr>
        </p:nvSpPr>
        <p:spPr>
          <a:xfrm>
            <a:off x="6118545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subTitle" idx="9"/>
          </p:nvPr>
        </p:nvSpPr>
        <p:spPr>
          <a:xfrm>
            <a:off x="6118545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title" idx="13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4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9"/>
          <p:cNvSpPr txBox="1">
            <a:spLocks noGrp="1"/>
          </p:cNvSpPr>
          <p:nvPr>
            <p:ph type="title" hasCustomPrompt="1"/>
          </p:nvPr>
        </p:nvSpPr>
        <p:spPr>
          <a:xfrm>
            <a:off x="1312156" y="19972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5" name="Google Shape;415;p49"/>
          <p:cNvSpPr txBox="1">
            <a:spLocks noGrp="1"/>
          </p:cNvSpPr>
          <p:nvPr>
            <p:ph type="subTitle" idx="1"/>
          </p:nvPr>
        </p:nvSpPr>
        <p:spPr>
          <a:xfrm>
            <a:off x="1312225" y="4188588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6" name="Google Shape;416;p49"/>
          <p:cNvSpPr txBox="1">
            <a:spLocks noGrp="1"/>
          </p:cNvSpPr>
          <p:nvPr>
            <p:ph type="title" idx="2" hasCustomPrompt="1"/>
          </p:nvPr>
        </p:nvSpPr>
        <p:spPr>
          <a:xfrm>
            <a:off x="1312144" y="34175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7" name="Google Shape;417;p49"/>
          <p:cNvSpPr txBox="1">
            <a:spLocks noGrp="1"/>
          </p:cNvSpPr>
          <p:nvPr>
            <p:ph type="subTitle" idx="3"/>
          </p:nvPr>
        </p:nvSpPr>
        <p:spPr>
          <a:xfrm>
            <a:off x="1312175" y="12895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8" name="Google Shape;418;p49"/>
          <p:cNvSpPr txBox="1">
            <a:spLocks noGrp="1"/>
          </p:cNvSpPr>
          <p:nvPr>
            <p:ph type="title" idx="4" hasCustomPrompt="1"/>
          </p:nvPr>
        </p:nvSpPr>
        <p:spPr>
          <a:xfrm>
            <a:off x="1312181" y="5769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9" name="Google Shape;419;p49"/>
          <p:cNvSpPr txBox="1">
            <a:spLocks noGrp="1"/>
          </p:cNvSpPr>
          <p:nvPr>
            <p:ph type="subTitle" idx="5"/>
          </p:nvPr>
        </p:nvSpPr>
        <p:spPr>
          <a:xfrm>
            <a:off x="1312225" y="27098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20;p49"/>
          <p:cNvGrpSpPr/>
          <p:nvPr/>
        </p:nvGrpSpPr>
        <p:grpSpPr>
          <a:xfrm>
            <a:off x="-1956832" y="-1968099"/>
            <a:ext cx="12940132" cy="7885148"/>
            <a:chOff x="-1956832" y="-1968099"/>
            <a:chExt cx="12940132" cy="7885148"/>
          </a:xfrm>
        </p:grpSpPr>
        <p:pic>
          <p:nvPicPr>
            <p:cNvPr id="421" name="Google Shape;421;p49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-1253698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49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7260176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Numbers and text 3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0"/>
          <p:cNvSpPr txBox="1">
            <a:spLocks noGrp="1"/>
          </p:cNvSpPr>
          <p:nvPr>
            <p:ph type="title" hasCustomPrompt="1"/>
          </p:nvPr>
        </p:nvSpPr>
        <p:spPr>
          <a:xfrm>
            <a:off x="1991075" y="28280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6" name="Google Shape;426;p50"/>
          <p:cNvSpPr txBox="1">
            <a:spLocks noGrp="1"/>
          </p:cNvSpPr>
          <p:nvPr>
            <p:ph type="subTitle" idx="1"/>
          </p:nvPr>
        </p:nvSpPr>
        <p:spPr>
          <a:xfrm>
            <a:off x="1991091" y="19373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7" name="Google Shape;427;p50"/>
          <p:cNvSpPr txBox="1">
            <a:spLocks noGrp="1"/>
          </p:cNvSpPr>
          <p:nvPr>
            <p:ph type="title" idx="2" hasCustomPrompt="1"/>
          </p:nvPr>
        </p:nvSpPr>
        <p:spPr>
          <a:xfrm>
            <a:off x="1991100" y="10196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8" name="Google Shape;428;p50"/>
          <p:cNvSpPr txBox="1">
            <a:spLocks noGrp="1"/>
          </p:cNvSpPr>
          <p:nvPr>
            <p:ph type="subTitle" idx="3"/>
          </p:nvPr>
        </p:nvSpPr>
        <p:spPr>
          <a:xfrm>
            <a:off x="1991130" y="37458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429" name="Google Shape;429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-1181955" flipH="1">
            <a:off x="-1253698" y="-1113975"/>
            <a:ext cx="3030302" cy="469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2567899" flipH="1">
            <a:off x="7747451" y="1912351"/>
            <a:ext cx="3030303" cy="469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1"/>
          <p:cNvSpPr txBox="1">
            <a:spLocks noGrp="1"/>
          </p:cNvSpPr>
          <p:nvPr>
            <p:ph type="title" hasCustomPrompt="1"/>
          </p:nvPr>
        </p:nvSpPr>
        <p:spPr>
          <a:xfrm>
            <a:off x="3331628" y="1815466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4" name="Google Shape;434;p51"/>
          <p:cNvSpPr txBox="1">
            <a:spLocks noGrp="1"/>
          </p:cNvSpPr>
          <p:nvPr>
            <p:ph type="subTitle" idx="1"/>
          </p:nvPr>
        </p:nvSpPr>
        <p:spPr>
          <a:xfrm>
            <a:off x="6195725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5" name="Google Shape;435;p51"/>
          <p:cNvSpPr txBox="1">
            <a:spLocks noGrp="1"/>
          </p:cNvSpPr>
          <p:nvPr>
            <p:ph type="title" idx="2" hasCustomPrompt="1"/>
          </p:nvPr>
        </p:nvSpPr>
        <p:spPr>
          <a:xfrm>
            <a:off x="5948173" y="1815454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6" name="Google Shape;436;p51"/>
          <p:cNvSpPr txBox="1">
            <a:spLocks noGrp="1"/>
          </p:cNvSpPr>
          <p:nvPr>
            <p:ph type="subTitle" idx="3"/>
          </p:nvPr>
        </p:nvSpPr>
        <p:spPr>
          <a:xfrm>
            <a:off x="96261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7" name="Google Shape;437;p51"/>
          <p:cNvSpPr txBox="1">
            <a:spLocks noGrp="1"/>
          </p:cNvSpPr>
          <p:nvPr>
            <p:ph type="title" idx="4" hasCustomPrompt="1"/>
          </p:nvPr>
        </p:nvSpPr>
        <p:spPr>
          <a:xfrm>
            <a:off x="715112" y="1844691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8" name="Google Shape;438;p51"/>
          <p:cNvSpPr txBox="1">
            <a:spLocks noGrp="1"/>
          </p:cNvSpPr>
          <p:nvPr>
            <p:ph type="subTitle" idx="5"/>
          </p:nvPr>
        </p:nvSpPr>
        <p:spPr>
          <a:xfrm>
            <a:off x="357916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39;p51"/>
          <p:cNvGrpSpPr/>
          <p:nvPr/>
        </p:nvGrpSpPr>
        <p:grpSpPr>
          <a:xfrm>
            <a:off x="-1923024" y="-1968099"/>
            <a:ext cx="13199162" cy="7885148"/>
            <a:chOff x="-1923024" y="-1968099"/>
            <a:chExt cx="13199162" cy="7885148"/>
          </a:xfrm>
        </p:grpSpPr>
        <p:pic>
          <p:nvPicPr>
            <p:cNvPr id="440" name="Google Shape;440;p51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7542702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51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2" name="Google Shape;442;p51"/>
          <p:cNvSpPr txBox="1">
            <a:spLocks noGrp="1"/>
          </p:cNvSpPr>
          <p:nvPr>
            <p:ph type="subTitle" idx="6"/>
          </p:nvPr>
        </p:nvSpPr>
        <p:spPr>
          <a:xfrm>
            <a:off x="6195725" y="3761146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3" name="Google Shape;443;p51"/>
          <p:cNvSpPr txBox="1">
            <a:spLocks noGrp="1"/>
          </p:cNvSpPr>
          <p:nvPr>
            <p:ph type="subTitle" idx="7"/>
          </p:nvPr>
        </p:nvSpPr>
        <p:spPr>
          <a:xfrm>
            <a:off x="962612" y="3761145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4" name="Google Shape;444;p51"/>
          <p:cNvSpPr txBox="1">
            <a:spLocks noGrp="1"/>
          </p:cNvSpPr>
          <p:nvPr>
            <p:ph type="subTitle" idx="8"/>
          </p:nvPr>
        </p:nvSpPr>
        <p:spPr>
          <a:xfrm>
            <a:off x="3579162" y="3761147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5" name="Google Shape;445;p51"/>
          <p:cNvSpPr txBox="1">
            <a:spLocks noGrp="1"/>
          </p:cNvSpPr>
          <p:nvPr>
            <p:ph type="title" idx="9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5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1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2"/>
          <p:cNvSpPr txBox="1">
            <a:spLocks noGrp="1"/>
          </p:cNvSpPr>
          <p:nvPr>
            <p:ph type="title" hasCustomPrompt="1"/>
          </p:nvPr>
        </p:nvSpPr>
        <p:spPr>
          <a:xfrm>
            <a:off x="715101" y="21450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9" name="Google Shape;449;p52"/>
          <p:cNvSpPr txBox="1">
            <a:spLocks noGrp="1"/>
          </p:cNvSpPr>
          <p:nvPr>
            <p:ph type="subTitle" idx="1"/>
          </p:nvPr>
        </p:nvSpPr>
        <p:spPr>
          <a:xfrm>
            <a:off x="4889626" y="1344850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0" name="Google Shape;450;p52"/>
          <p:cNvSpPr txBox="1">
            <a:spLocks noGrp="1"/>
          </p:cNvSpPr>
          <p:nvPr>
            <p:ph type="title" idx="2" hasCustomPrompt="1"/>
          </p:nvPr>
        </p:nvSpPr>
        <p:spPr>
          <a:xfrm>
            <a:off x="715106" y="1344838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1" name="Google Shape;451;p52"/>
          <p:cNvSpPr txBox="1">
            <a:spLocks noGrp="1"/>
          </p:cNvSpPr>
          <p:nvPr>
            <p:ph type="subTitle" idx="3"/>
          </p:nvPr>
        </p:nvSpPr>
        <p:spPr>
          <a:xfrm>
            <a:off x="4889626" y="2145009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52;p52"/>
          <p:cNvGrpSpPr/>
          <p:nvPr/>
        </p:nvGrpSpPr>
        <p:grpSpPr>
          <a:xfrm rot="10800000">
            <a:off x="-2743074" y="-793849"/>
            <a:ext cx="13820262" cy="7885148"/>
            <a:chOff x="-1923024" y="-1968099"/>
            <a:chExt cx="13820262" cy="7885148"/>
          </a:xfrm>
        </p:grpSpPr>
        <p:pic>
          <p:nvPicPr>
            <p:cNvPr id="453" name="Google Shape;453;p52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8163802" y="5153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52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5" name="Google Shape;455;p52"/>
          <p:cNvSpPr txBox="1">
            <a:spLocks noGrp="1"/>
          </p:cNvSpPr>
          <p:nvPr>
            <p:ph type="subTitle" idx="4"/>
          </p:nvPr>
        </p:nvSpPr>
        <p:spPr>
          <a:xfrm>
            <a:off x="6515000" y="1344838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6" name="Google Shape;456;p52"/>
          <p:cNvSpPr txBox="1">
            <a:spLocks noGrp="1"/>
          </p:cNvSpPr>
          <p:nvPr>
            <p:ph type="subTitle" idx="5"/>
          </p:nvPr>
        </p:nvSpPr>
        <p:spPr>
          <a:xfrm>
            <a:off x="6515000" y="21450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7" name="Google Shape;457;p52"/>
          <p:cNvSpPr txBox="1">
            <a:spLocks noGrp="1"/>
          </p:cNvSpPr>
          <p:nvPr>
            <p:ph type="title" idx="6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8" name="Google Shape;458;p52"/>
          <p:cNvSpPr txBox="1">
            <a:spLocks noGrp="1"/>
          </p:cNvSpPr>
          <p:nvPr>
            <p:ph type="title" idx="7" hasCustomPrompt="1"/>
          </p:nvPr>
        </p:nvSpPr>
        <p:spPr>
          <a:xfrm>
            <a:off x="715101" y="294515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9" name="Google Shape;459;p52"/>
          <p:cNvSpPr txBox="1">
            <a:spLocks noGrp="1"/>
          </p:cNvSpPr>
          <p:nvPr>
            <p:ph type="subTitle" idx="8"/>
          </p:nvPr>
        </p:nvSpPr>
        <p:spPr>
          <a:xfrm>
            <a:off x="4889626" y="2945155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0" name="Google Shape;460;p52"/>
          <p:cNvSpPr txBox="1">
            <a:spLocks noGrp="1"/>
          </p:cNvSpPr>
          <p:nvPr>
            <p:ph type="subTitle" idx="9"/>
          </p:nvPr>
        </p:nvSpPr>
        <p:spPr>
          <a:xfrm>
            <a:off x="6515000" y="294515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1" name="Google Shape;461;p52"/>
          <p:cNvSpPr txBox="1">
            <a:spLocks noGrp="1"/>
          </p:cNvSpPr>
          <p:nvPr>
            <p:ph type="title" idx="13" hasCustomPrompt="1"/>
          </p:nvPr>
        </p:nvSpPr>
        <p:spPr>
          <a:xfrm>
            <a:off x="715101" y="37453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62" name="Google Shape;462;p52"/>
          <p:cNvSpPr txBox="1">
            <a:spLocks noGrp="1"/>
          </p:cNvSpPr>
          <p:nvPr>
            <p:ph type="subTitle" idx="14"/>
          </p:nvPr>
        </p:nvSpPr>
        <p:spPr>
          <a:xfrm>
            <a:off x="4889626" y="3745301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3" name="Google Shape;463;p52"/>
          <p:cNvSpPr txBox="1">
            <a:spLocks noGrp="1"/>
          </p:cNvSpPr>
          <p:nvPr>
            <p:ph type="subTitle" idx="15"/>
          </p:nvPr>
        </p:nvSpPr>
        <p:spPr>
          <a:xfrm>
            <a:off x="6515000" y="37453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3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6" name="Google Shape;466;p53"/>
          <p:cNvSpPr txBox="1">
            <a:spLocks noGrp="1"/>
          </p:cNvSpPr>
          <p:nvPr>
            <p:ph type="title" idx="2"/>
          </p:nvPr>
        </p:nvSpPr>
        <p:spPr>
          <a:xfrm>
            <a:off x="883625" y="148907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7" name="Google Shape;467;p53"/>
          <p:cNvSpPr txBox="1">
            <a:spLocks noGrp="1"/>
          </p:cNvSpPr>
          <p:nvPr>
            <p:ph type="subTitle" idx="1"/>
          </p:nvPr>
        </p:nvSpPr>
        <p:spPr>
          <a:xfrm>
            <a:off x="3080450" y="148907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8" name="Google Shape;468;p53"/>
          <p:cNvSpPr txBox="1">
            <a:spLocks noGrp="1"/>
          </p:cNvSpPr>
          <p:nvPr>
            <p:ph type="title" idx="3"/>
          </p:nvPr>
        </p:nvSpPr>
        <p:spPr>
          <a:xfrm>
            <a:off x="883625" y="230790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9" name="Google Shape;469;p53"/>
          <p:cNvSpPr txBox="1">
            <a:spLocks noGrp="1"/>
          </p:cNvSpPr>
          <p:nvPr>
            <p:ph type="subTitle" idx="4"/>
          </p:nvPr>
        </p:nvSpPr>
        <p:spPr>
          <a:xfrm>
            <a:off x="3080450" y="230790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0" name="Google Shape;470;p53"/>
          <p:cNvSpPr txBox="1">
            <a:spLocks noGrp="1"/>
          </p:cNvSpPr>
          <p:nvPr>
            <p:ph type="title" idx="5"/>
          </p:nvPr>
        </p:nvSpPr>
        <p:spPr>
          <a:xfrm>
            <a:off x="883625" y="312672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1" name="Google Shape;471;p53"/>
          <p:cNvSpPr txBox="1">
            <a:spLocks noGrp="1"/>
          </p:cNvSpPr>
          <p:nvPr>
            <p:ph type="subTitle" idx="6"/>
          </p:nvPr>
        </p:nvSpPr>
        <p:spPr>
          <a:xfrm>
            <a:off x="3080450" y="312672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2" name="Google Shape;472;p53"/>
          <p:cNvSpPr txBox="1">
            <a:spLocks noGrp="1"/>
          </p:cNvSpPr>
          <p:nvPr>
            <p:ph type="title" idx="7"/>
          </p:nvPr>
        </p:nvSpPr>
        <p:spPr>
          <a:xfrm>
            <a:off x="883625" y="394555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3" name="Google Shape;473;p53"/>
          <p:cNvSpPr txBox="1">
            <a:spLocks noGrp="1"/>
          </p:cNvSpPr>
          <p:nvPr>
            <p:ph type="subTitle" idx="8"/>
          </p:nvPr>
        </p:nvSpPr>
        <p:spPr>
          <a:xfrm>
            <a:off x="3080450" y="394555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5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4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>
            <a:off x="0" y="202705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4"/>
          <p:cNvSpPr txBox="1">
            <a:spLocks noGrp="1"/>
          </p:cNvSpPr>
          <p:nvPr>
            <p:ph type="title"/>
          </p:nvPr>
        </p:nvSpPr>
        <p:spPr>
          <a:xfrm flipH="1">
            <a:off x="2476075" y="1588775"/>
            <a:ext cx="4291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8" name="Google Shape;478;p54"/>
          <p:cNvSpPr txBox="1">
            <a:spLocks noGrp="1"/>
          </p:cNvSpPr>
          <p:nvPr>
            <p:ph type="subTitle" idx="1"/>
          </p:nvPr>
        </p:nvSpPr>
        <p:spPr>
          <a:xfrm flipH="1">
            <a:off x="2476075" y="2968230"/>
            <a:ext cx="4291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5"/>
          <p:cNvSpPr txBox="1">
            <a:spLocks noGrp="1"/>
          </p:cNvSpPr>
          <p:nvPr>
            <p:ph type="title"/>
          </p:nvPr>
        </p:nvSpPr>
        <p:spPr>
          <a:xfrm flipH="1">
            <a:off x="4320775" y="1588775"/>
            <a:ext cx="41100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2" name="Google Shape;482;p55"/>
          <p:cNvSpPr txBox="1">
            <a:spLocks noGrp="1"/>
          </p:cNvSpPr>
          <p:nvPr>
            <p:ph type="subTitle" idx="1"/>
          </p:nvPr>
        </p:nvSpPr>
        <p:spPr>
          <a:xfrm flipH="1">
            <a:off x="4320775" y="2968225"/>
            <a:ext cx="4110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83;p55"/>
          <p:cNvGrpSpPr/>
          <p:nvPr/>
        </p:nvGrpSpPr>
        <p:grpSpPr>
          <a:xfrm rot="10800000" flipH="1">
            <a:off x="-616659" y="-488554"/>
            <a:ext cx="10865580" cy="6700154"/>
            <a:chOff x="-713684" y="-2669900"/>
            <a:chExt cx="10865580" cy="6700154"/>
          </a:xfrm>
        </p:grpSpPr>
        <p:pic>
          <p:nvPicPr>
            <p:cNvPr id="484" name="Google Shape;484;p5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7270673" y="-26699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5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22199" y="161950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6"/>
          <p:cNvSpPr txBox="1">
            <a:spLocks noGrp="1"/>
          </p:cNvSpPr>
          <p:nvPr>
            <p:ph type="title"/>
          </p:nvPr>
        </p:nvSpPr>
        <p:spPr>
          <a:xfrm>
            <a:off x="4408076" y="1740900"/>
            <a:ext cx="286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9" name="Google Shape;489;p56"/>
          <p:cNvSpPr txBox="1">
            <a:spLocks noGrp="1"/>
          </p:cNvSpPr>
          <p:nvPr>
            <p:ph type="subTitle" idx="1"/>
          </p:nvPr>
        </p:nvSpPr>
        <p:spPr>
          <a:xfrm>
            <a:off x="4408076" y="2313597"/>
            <a:ext cx="2861100" cy="10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90;p56"/>
          <p:cNvGrpSpPr/>
          <p:nvPr/>
        </p:nvGrpSpPr>
        <p:grpSpPr>
          <a:xfrm rot="10800000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491" name="Google Shape;491;p5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5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5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3" y="6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7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flipH="1">
            <a:off x="0" y="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7"/>
          <p:cNvSpPr txBox="1">
            <a:spLocks noGrp="1"/>
          </p:cNvSpPr>
          <p:nvPr>
            <p:ph type="subTitle" idx="1"/>
          </p:nvPr>
        </p:nvSpPr>
        <p:spPr>
          <a:xfrm>
            <a:off x="2478875" y="3859275"/>
            <a:ext cx="41862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97" name="Google Shape;497;p5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5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8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flipH="1">
            <a:off x="-2015" y="-955475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8"/>
          <p:cNvSpPr txBox="1">
            <a:spLocks noGrp="1"/>
          </p:cNvSpPr>
          <p:nvPr>
            <p:ph type="ctrTitle"/>
          </p:nvPr>
        </p:nvSpPr>
        <p:spPr>
          <a:xfrm>
            <a:off x="2429950" y="418979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2" name="Google Shape;502;p58"/>
          <p:cNvSpPr txBox="1">
            <a:spLocks noGrp="1"/>
          </p:cNvSpPr>
          <p:nvPr>
            <p:ph type="subTitle" idx="1"/>
          </p:nvPr>
        </p:nvSpPr>
        <p:spPr>
          <a:xfrm>
            <a:off x="2425075" y="1659495"/>
            <a:ext cx="42939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3" name="Google Shape;503;p58"/>
          <p:cNvSpPr txBox="1"/>
          <p:nvPr/>
        </p:nvSpPr>
        <p:spPr>
          <a:xfrm>
            <a:off x="2825850" y="3686879"/>
            <a:ext cx="349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rgbClr val="DFDEFC"/>
                </a:highlight>
                <a:latin typeface="Quicksand"/>
                <a:ea typeface="Quicksand"/>
                <a:cs typeface="Quicksand"/>
                <a:sym typeface="Quicksand"/>
              </a:rPr>
              <a:t>and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highlight>
                <a:srgbClr val="DFDEFC"/>
              </a:highlight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08;p60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509" name="Google Shape;509;p6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60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solidFill>
          <a:schemeClr val="accent1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6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1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bg>
      <p:bgPr>
        <a:solidFill>
          <a:schemeClr val="lt2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6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16;p62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517" name="Google Shape;517;p62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62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5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3A74B8-EF64-4578-9A72-98E8B3A3A10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3F1FC"/>
              </a:gs>
              <a:gs pos="74000">
                <a:srgbClr val="BFCBD9"/>
              </a:gs>
              <a:gs pos="83000">
                <a:srgbClr val="BFCBD9"/>
              </a:gs>
              <a:gs pos="100000">
                <a:srgbClr val="BFCBD9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03261B-DE37-4912-AF5A-8E51A0F03535}"/>
              </a:ext>
            </a:extLst>
          </p:cNvPr>
          <p:cNvSpPr/>
          <p:nvPr/>
        </p:nvSpPr>
        <p:spPr>
          <a:xfrm>
            <a:off x="1304925" y="1085851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EA7C3A-9E97-4FD9-9258-90A2A701B48E}"/>
              </a:ext>
            </a:extLst>
          </p:cNvPr>
          <p:cNvSpPr/>
          <p:nvPr/>
        </p:nvSpPr>
        <p:spPr>
          <a:xfrm>
            <a:off x="549276" y="549276"/>
            <a:ext cx="8045448" cy="4040188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DF1A8A-E8B1-4F56-8E05-BF95BE98DE5B}"/>
              </a:ext>
            </a:extLst>
          </p:cNvPr>
          <p:cNvSpPr/>
          <p:nvPr/>
        </p:nvSpPr>
        <p:spPr>
          <a:xfrm>
            <a:off x="549276" y="549274"/>
            <a:ext cx="8045448" cy="2022476"/>
          </a:xfrm>
          <a:custGeom>
            <a:avLst/>
            <a:gdLst>
              <a:gd name="connsiteX0" fmla="*/ 95348 w 10727264"/>
              <a:gd name="connsiteY0" fmla="*/ 0 h 2696634"/>
              <a:gd name="connsiteX1" fmla="*/ 10631916 w 10727264"/>
              <a:gd name="connsiteY1" fmla="*/ 0 h 2696634"/>
              <a:gd name="connsiteX2" fmla="*/ 10727264 w 10727264"/>
              <a:gd name="connsiteY2" fmla="*/ 95348 h 2696634"/>
              <a:gd name="connsiteX3" fmla="*/ 10727264 w 10727264"/>
              <a:gd name="connsiteY3" fmla="*/ 2696634 h 2696634"/>
              <a:gd name="connsiteX4" fmla="*/ 0 w 10727264"/>
              <a:gd name="connsiteY4" fmla="*/ 2696634 h 2696634"/>
              <a:gd name="connsiteX5" fmla="*/ 0 w 10727264"/>
              <a:gd name="connsiteY5" fmla="*/ 95348 h 2696634"/>
              <a:gd name="connsiteX6" fmla="*/ 95348 w 10727264"/>
              <a:gd name="connsiteY6" fmla="*/ 0 h 269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27264" h="2696634">
                <a:moveTo>
                  <a:pt x="95348" y="0"/>
                </a:moveTo>
                <a:lnTo>
                  <a:pt x="10631916" y="0"/>
                </a:lnTo>
                <a:cubicBezTo>
                  <a:pt x="10684575" y="0"/>
                  <a:pt x="10727264" y="42689"/>
                  <a:pt x="10727264" y="95348"/>
                </a:cubicBezTo>
                <a:lnTo>
                  <a:pt x="10727264" y="2696634"/>
                </a:lnTo>
                <a:lnTo>
                  <a:pt x="0" y="2696634"/>
                </a:lnTo>
                <a:lnTo>
                  <a:pt x="0" y="95348"/>
                </a:lnTo>
                <a:cubicBezTo>
                  <a:pt x="0" y="42689"/>
                  <a:pt x="42689" y="0"/>
                  <a:pt x="9534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65162"/>
            <a:ext cx="6858000" cy="1790700"/>
          </a:xfrm>
        </p:spPr>
        <p:txBody>
          <a:bodyPr anchor="b"/>
          <a:lstStyle>
            <a:lvl1pPr algn="ctr">
              <a:defRPr sz="60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71544"/>
            <a:ext cx="6858000" cy="5319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700" cap="all" baseline="0">
                <a:solidFill>
                  <a:srgbClr val="4C8BFD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D686E"/>
                </a:solidFill>
              </a:defRPr>
            </a:lvl1pPr>
          </a:lstStyle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29250" y="4834955"/>
            <a:ext cx="3086100" cy="274637"/>
          </a:xfrm>
        </p:spPr>
        <p:txBody>
          <a:bodyPr/>
          <a:lstStyle>
            <a:lvl1pPr algn="r">
              <a:defRPr>
                <a:solidFill>
                  <a:srgbClr val="5D686E"/>
                </a:solidFill>
              </a:defRPr>
            </a:lvl1pPr>
          </a:lstStyle>
          <a:p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7250034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32617-F728-4345-9B63-C0B5F79D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96419-4C10-4573-9A34-A9E44962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271FF-57D3-46C2-B896-B112906A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3037F-AC0A-45F2-9BE0-E2564EE6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67351E8-B1DF-47F2-BEAE-438019E48A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1533526"/>
            <a:ext cx="7886700" cy="3246119"/>
          </a:xfrm>
          <a:prstGeom prst="rect">
            <a:avLst/>
          </a:prstGeo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61709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2"/>
            <a:ext cx="7886700" cy="2139950"/>
          </a:xfrm>
        </p:spPr>
        <p:txBody>
          <a:bodyPr anchor="b"/>
          <a:lstStyle>
            <a:lvl1pPr>
              <a:defRPr sz="6000">
                <a:solidFill>
                  <a:srgbClr val="5D686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2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82003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243147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40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791504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385813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91148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134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4165889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432561"/>
            <a:ext cx="7886700" cy="329228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0854831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4640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4640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3100982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364718"/>
            <a:ext cx="9144000" cy="414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048935" y="2303794"/>
            <a:ext cx="5046133" cy="535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2747216" y="4591049"/>
            <a:ext cx="364958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rgbClr val="A5CD00"/>
                </a:solidFill>
              </a:rPr>
              <a:t>T</a:t>
            </a:r>
            <a:r>
              <a:rPr lang="en-US" baseline="0" dirty="0">
                <a:solidFill>
                  <a:srgbClr val="A5CD00"/>
                </a:solidFill>
              </a:rPr>
              <a:t>he </a:t>
            </a:r>
            <a:r>
              <a:rPr lang="en-US" baseline="0">
                <a:solidFill>
                  <a:srgbClr val="A5CD00"/>
                </a:solidFill>
              </a:rPr>
              <a:t>free PowerPoint template </a:t>
            </a:r>
            <a:r>
              <a:rPr lang="en-US" baseline="0" dirty="0">
                <a:solidFill>
                  <a:srgbClr val="A5CD00"/>
                </a:solidFill>
              </a:rPr>
              <a:t>library</a:t>
            </a:r>
            <a:endParaRPr lang="en-US" dirty="0">
              <a:solidFill>
                <a:srgbClr val="A5CD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459936" y="1974850"/>
            <a:ext cx="2224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ffectLst/>
              </a:rPr>
              <a:t>Designed</a:t>
            </a:r>
            <a:r>
              <a:rPr lang="en-US" baseline="0">
                <a:solidFill>
                  <a:schemeClr val="bg1"/>
                </a:solidFill>
                <a:effectLst/>
              </a:rPr>
              <a:t> with         by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Freeform 290"/>
          <p:cNvSpPr/>
          <p:nvPr userDrawn="1"/>
        </p:nvSpPr>
        <p:spPr>
          <a:xfrm>
            <a:off x="4977441" y="2029355"/>
            <a:ext cx="261456" cy="167993"/>
          </a:xfrm>
          <a:custGeom>
            <a:avLst/>
            <a:gdLst/>
            <a:ahLst/>
            <a:cxnLst/>
            <a:rect l="l" t="t" r="r" b="b"/>
            <a:pathLst>
              <a:path w="504825" h="432707">
                <a:moveTo>
                  <a:pt x="134658" y="0"/>
                </a:moveTo>
                <a:cubicBezTo>
                  <a:pt x="146301" y="0"/>
                  <a:pt x="158180" y="2019"/>
                  <a:pt x="170294" y="6057"/>
                </a:cubicBezTo>
                <a:cubicBezTo>
                  <a:pt x="182407" y="10095"/>
                  <a:pt x="193676" y="15541"/>
                  <a:pt x="204099" y="22396"/>
                </a:cubicBezTo>
                <a:cubicBezTo>
                  <a:pt x="214522" y="29251"/>
                  <a:pt x="223490" y="35683"/>
                  <a:pt x="231002" y="41693"/>
                </a:cubicBezTo>
                <a:cubicBezTo>
                  <a:pt x="238514" y="47703"/>
                  <a:pt x="245652" y="54088"/>
                  <a:pt x="252412" y="60849"/>
                </a:cubicBezTo>
                <a:cubicBezTo>
                  <a:pt x="259174" y="54088"/>
                  <a:pt x="266310" y="47703"/>
                  <a:pt x="273823" y="41693"/>
                </a:cubicBezTo>
                <a:cubicBezTo>
                  <a:pt x="281334" y="35683"/>
                  <a:pt x="290303" y="29251"/>
                  <a:pt x="300726" y="22396"/>
                </a:cubicBezTo>
                <a:cubicBezTo>
                  <a:pt x="311149" y="15541"/>
                  <a:pt x="322417" y="10095"/>
                  <a:pt x="334531" y="6057"/>
                </a:cubicBezTo>
                <a:cubicBezTo>
                  <a:pt x="346645" y="2019"/>
                  <a:pt x="358524" y="0"/>
                  <a:pt x="370167" y="0"/>
                </a:cubicBezTo>
                <a:cubicBezTo>
                  <a:pt x="412236" y="0"/>
                  <a:pt x="445197" y="11644"/>
                  <a:pt x="469048" y="34932"/>
                </a:cubicBezTo>
                <a:cubicBezTo>
                  <a:pt x="492899" y="58220"/>
                  <a:pt x="504825" y="90523"/>
                  <a:pt x="504825" y="131840"/>
                </a:cubicBezTo>
                <a:cubicBezTo>
                  <a:pt x="504825" y="173346"/>
                  <a:pt x="483321" y="215602"/>
                  <a:pt x="440313" y="258610"/>
                </a:cubicBezTo>
                <a:lnTo>
                  <a:pt x="264807" y="427636"/>
                </a:lnTo>
                <a:cubicBezTo>
                  <a:pt x="261427" y="431017"/>
                  <a:pt x="257295" y="432707"/>
                  <a:pt x="252412" y="432707"/>
                </a:cubicBezTo>
                <a:cubicBezTo>
                  <a:pt x="247529" y="432707"/>
                  <a:pt x="243398" y="431017"/>
                  <a:pt x="240018" y="427636"/>
                </a:cubicBezTo>
                <a:lnTo>
                  <a:pt x="64230" y="258047"/>
                </a:lnTo>
                <a:cubicBezTo>
                  <a:pt x="62351" y="256544"/>
                  <a:pt x="59770" y="254103"/>
                  <a:pt x="56482" y="250722"/>
                </a:cubicBezTo>
                <a:cubicBezTo>
                  <a:pt x="53196" y="247342"/>
                  <a:pt x="47984" y="241191"/>
                  <a:pt x="40848" y="232270"/>
                </a:cubicBezTo>
                <a:cubicBezTo>
                  <a:pt x="33712" y="223349"/>
                  <a:pt x="27326" y="214194"/>
                  <a:pt x="21692" y="204803"/>
                </a:cubicBezTo>
                <a:cubicBezTo>
                  <a:pt x="16057" y="195413"/>
                  <a:pt x="11035" y="184051"/>
                  <a:pt x="6620" y="170717"/>
                </a:cubicBezTo>
                <a:cubicBezTo>
                  <a:pt x="2207" y="157382"/>
                  <a:pt x="0" y="144423"/>
                  <a:pt x="0" y="131840"/>
                </a:cubicBezTo>
                <a:cubicBezTo>
                  <a:pt x="0" y="90523"/>
                  <a:pt x="11926" y="58220"/>
                  <a:pt x="35777" y="34932"/>
                </a:cubicBezTo>
                <a:cubicBezTo>
                  <a:pt x="59629" y="11644"/>
                  <a:pt x="92588" y="0"/>
                  <a:pt x="134658" y="0"/>
                </a:cubicBezTo>
                <a:close/>
              </a:path>
            </a:pathLst>
          </a:custGeom>
          <a:solidFill>
            <a:srgbClr val="D900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04190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0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image" Target="../media/image37.png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hyperlink" Target="http://www.presentationgo.com/" TargetMode="Externa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osefin Sans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  <p:sldLayoutId id="2147483724" r:id="rId50"/>
    <p:sldLayoutId id="2147483725" r:id="rId51"/>
    <p:sldLayoutId id="2147483726" r:id="rId52"/>
    <p:sldLayoutId id="2147483727" r:id="rId53"/>
    <p:sldLayoutId id="2147483728" r:id="rId54"/>
    <p:sldLayoutId id="2147483729" r:id="rId55"/>
    <p:sldLayoutId id="2147483730" r:id="rId56"/>
    <p:sldLayoutId id="2147483731" r:id="rId57"/>
    <p:sldLayoutId id="2147483732" r:id="rId58"/>
    <p:sldLayoutId id="2147483733" r:id="rId59"/>
    <p:sldLayoutId id="2147483734" r:id="rId60"/>
    <p:sldLayoutId id="2147483735" r:id="rId6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21" name="Google Shape;521;p6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27" name="Google Shape;527;p6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ABCEAB2-FBDF-46DE-8DD3-07B5136284FA}"/>
              </a:ext>
            </a:extLst>
          </p:cNvPr>
          <p:cNvSpPr/>
          <p:nvPr/>
        </p:nvSpPr>
        <p:spPr>
          <a:xfrm>
            <a:off x="1371600" y="1171576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7E6ECE6-8137-4F41-A6F0-DC9623651236}"/>
              </a:ext>
            </a:extLst>
          </p:cNvPr>
          <p:cNvSpPr/>
          <p:nvPr/>
        </p:nvSpPr>
        <p:spPr>
          <a:xfrm>
            <a:off x="356109" y="356108"/>
            <a:ext cx="8431785" cy="4431285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12DC555-B169-430C-85D9-8F1BCAF97743}"/>
              </a:ext>
            </a:extLst>
          </p:cNvPr>
          <p:cNvSpPr/>
          <p:nvPr/>
        </p:nvSpPr>
        <p:spPr>
          <a:xfrm>
            <a:off x="356109" y="354286"/>
            <a:ext cx="8431785" cy="1023223"/>
          </a:xfrm>
          <a:custGeom>
            <a:avLst/>
            <a:gdLst>
              <a:gd name="connsiteX0" fmla="*/ 104578 w 11242380"/>
              <a:gd name="connsiteY0" fmla="*/ 0 h 1364297"/>
              <a:gd name="connsiteX1" fmla="*/ 11137802 w 11242380"/>
              <a:gd name="connsiteY1" fmla="*/ 0 h 1364297"/>
              <a:gd name="connsiteX2" fmla="*/ 11242380 w 11242380"/>
              <a:gd name="connsiteY2" fmla="*/ 104578 h 1364297"/>
              <a:gd name="connsiteX3" fmla="*/ 11242380 w 11242380"/>
              <a:gd name="connsiteY3" fmla="*/ 1364297 h 1364297"/>
              <a:gd name="connsiteX4" fmla="*/ 0 w 11242380"/>
              <a:gd name="connsiteY4" fmla="*/ 1364297 h 1364297"/>
              <a:gd name="connsiteX5" fmla="*/ 0 w 11242380"/>
              <a:gd name="connsiteY5" fmla="*/ 104578 h 1364297"/>
              <a:gd name="connsiteX6" fmla="*/ 104578 w 11242380"/>
              <a:gd name="connsiteY6" fmla="*/ 0 h 1364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42380" h="1364297">
                <a:moveTo>
                  <a:pt x="104578" y="0"/>
                </a:moveTo>
                <a:lnTo>
                  <a:pt x="11137802" y="0"/>
                </a:lnTo>
                <a:cubicBezTo>
                  <a:pt x="11195559" y="0"/>
                  <a:pt x="11242380" y="46821"/>
                  <a:pt x="11242380" y="104578"/>
                </a:cubicBezTo>
                <a:lnTo>
                  <a:pt x="11242380" y="1364297"/>
                </a:lnTo>
                <a:lnTo>
                  <a:pt x="0" y="1364297"/>
                </a:lnTo>
                <a:lnTo>
                  <a:pt x="0" y="104578"/>
                </a:lnTo>
                <a:cubicBezTo>
                  <a:pt x="0" y="46821"/>
                  <a:pt x="46821" y="0"/>
                  <a:pt x="10457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33523"/>
            <a:ext cx="7886700" cy="3246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34955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pPr algn="r"/>
            <a:fld id="{1C0DB9A4-7C00-41BB-B303-4E91C20728DD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3856"/>
            <a:ext cx="7886700" cy="1013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0A3E62-9D04-42CF-968F-5F6E2C124DB8}"/>
              </a:ext>
            </a:extLst>
          </p:cNvPr>
          <p:cNvSpPr/>
          <p:nvPr/>
        </p:nvSpPr>
        <p:spPr>
          <a:xfrm>
            <a:off x="-88899" y="5219701"/>
            <a:ext cx="15648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14" tooltip="PresentationGo!"/>
              </a:rPr>
              <a:t>presentationgo.com</a:t>
            </a:r>
            <a:endParaRPr lang="en-US" sz="1100" dirty="0"/>
          </a:p>
        </p:txBody>
      </p:sp>
      <p:grpSp>
        <p:nvGrpSpPr>
          <p:cNvPr id="7" name="Group 16">
            <a:extLst>
              <a:ext uri="{FF2B5EF4-FFF2-40B4-BE49-F238E27FC236}">
                <a16:creationId xmlns:a16="http://schemas.microsoft.com/office/drawing/2014/main" id="{B356D5FC-88A6-4DDA-911C-2AF338BB6929}"/>
              </a:ext>
            </a:extLst>
          </p:cNvPr>
          <p:cNvGrpSpPr/>
          <p:nvPr/>
        </p:nvGrpSpPr>
        <p:grpSpPr>
          <a:xfrm>
            <a:off x="-1654908" y="-55353"/>
            <a:ext cx="1556359" cy="520664"/>
            <a:chOff x="-2096383" y="21447"/>
            <a:chExt cx="1556359" cy="69421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2DEBD7C-F558-4D4F-8E49-929D46967D92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369012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9E32DC-7D1B-4F0A-8A94-9976C83581EE}"/>
                </a:ext>
              </a:extLst>
            </p:cNvPr>
            <p:cNvSpPr txBox="1"/>
            <p:nvPr userDrawn="1"/>
          </p:nvSpPr>
          <p:spPr>
            <a:xfrm>
              <a:off x="-1002010" y="387370"/>
              <a:ext cx="461986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DF23B40-7BE1-43AB-84F8-8890236A61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151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D686E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D686E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D686E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942A-26CB-4FC8-A61F-ED7BAF06B75B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6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IN"/>
              <a:t>CS-409: </a:t>
            </a:r>
            <a:r>
              <a:rPr lang="el-GR"/>
              <a:t>Αντικειμενοστρεφής 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4.xml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209346" y="267494"/>
            <a:ext cx="8811638" cy="1512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00" dirty="0">
                <a:solidFill>
                  <a:schemeClr val="tx2"/>
                </a:solidFill>
                <a:latin typeface="Bebas Neue"/>
                <a:ea typeface="+mj-ea"/>
                <a:cs typeface="+mj-cs"/>
              </a:rPr>
              <a:t>Senior Design Project</a:t>
            </a:r>
          </a:p>
          <a:p>
            <a:pPr>
              <a:lnSpc>
                <a:spcPct val="100000"/>
              </a:lnSpc>
            </a:pPr>
            <a:r>
              <a:rPr lang="en-US" sz="2800" b="1" spc="-100" dirty="0">
                <a:solidFill>
                  <a:schemeClr val="tx2"/>
                </a:solidFill>
                <a:latin typeface="Bebas Neue"/>
                <a:ea typeface="+mj-ea"/>
                <a:cs typeface="+mj-cs"/>
              </a:rPr>
              <a:t>end-Term</a:t>
            </a:r>
            <a:r>
              <a:rPr lang="en-US" sz="2800" b="1" cap="all" spc="-100" dirty="0">
                <a:solidFill>
                  <a:schemeClr val="tx2"/>
                </a:solidFill>
                <a:latin typeface="Bebas Neue"/>
                <a:ea typeface="+mj-ea"/>
                <a:cs typeface="+mj-cs"/>
              </a:rPr>
              <a:t> </a:t>
            </a:r>
            <a:r>
              <a:rPr lang="en-US" sz="2800" b="1" spc="-100" dirty="0">
                <a:solidFill>
                  <a:schemeClr val="tx2"/>
                </a:solidFill>
                <a:latin typeface="Bebas Neue"/>
                <a:ea typeface="+mj-ea"/>
                <a:cs typeface="+mj-cs"/>
              </a:rPr>
              <a:t>Presentation</a:t>
            </a:r>
          </a:p>
          <a:p>
            <a:pPr>
              <a:lnSpc>
                <a:spcPct val="100000"/>
              </a:lnSpc>
            </a:pPr>
            <a:br>
              <a:rPr sz="1100" dirty="0">
                <a:latin typeface="Bebas Neue"/>
              </a:rPr>
            </a:br>
            <a:r>
              <a:rPr lang="en-US" sz="1100" dirty="0">
                <a:latin typeface="Bebas Neue"/>
              </a:rPr>
              <a:t>	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Deep Learning for Detecting Distracted Drivers</a:t>
            </a:r>
            <a:endParaRPr lang="en-US" sz="2400" b="1" strike="noStrike" spc="-1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395536" y="2214726"/>
            <a:ext cx="6400440" cy="647730"/>
          </a:xfrm>
          <a:prstGeom prst="rect">
            <a:avLst/>
          </a:prstGeom>
          <a:noFill/>
          <a:ln>
            <a:noFill/>
          </a:ln>
        </p:spPr>
        <p:txBody>
          <a:bodyPr lIns="90000" tIns="0" rIns="90000" bIns="45000">
            <a:normAutofit fontScale="94000"/>
          </a:bodyPr>
          <a:lstStyle/>
          <a:p>
            <a:pPr marL="27360">
              <a:lnSpc>
                <a:spcPct val="100000"/>
              </a:lnSpc>
              <a:spcBef>
                <a:spcPts val="601"/>
              </a:spcBef>
            </a:pPr>
            <a:r>
              <a:rPr lang="en-IN" sz="1700" b="1" strike="noStrike" spc="-1" dirty="0">
                <a:solidFill>
                  <a:srgbClr val="0070C0"/>
                </a:solidFill>
                <a:latin typeface="Gill Sans MT"/>
              </a:rPr>
              <a:t>Supervised By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:</a:t>
            </a:r>
            <a:r>
              <a:rPr lang="en-IN" sz="1700" spc="-1" dirty="0">
                <a:latin typeface="Arial"/>
              </a:rPr>
              <a:t> </a:t>
            </a:r>
            <a:r>
              <a:rPr lang="en-IN" sz="1700" b="1" spc="-1" dirty="0">
                <a:solidFill>
                  <a:srgbClr val="361309"/>
                </a:solidFill>
                <a:latin typeface="Gill Sans MT"/>
              </a:rPr>
              <a:t>Mr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. </a:t>
            </a:r>
            <a:r>
              <a:rPr lang="en-IN" sz="1700" b="1" strike="noStrike" spc="-1" dirty="0" err="1">
                <a:solidFill>
                  <a:srgbClr val="361309"/>
                </a:solidFill>
                <a:latin typeface="Gill Sans MT"/>
              </a:rPr>
              <a:t>Priyatosh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 Mishra</a:t>
            </a:r>
            <a:endParaRPr lang="en-IN" sz="1700" b="0" strike="noStrike" spc="-1" dirty="0"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395535" y="2859782"/>
            <a:ext cx="3744418" cy="33225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Group No.: U5</a:t>
            </a:r>
          </a:p>
          <a:p>
            <a:pPr>
              <a:lnSpc>
                <a:spcPct val="100000"/>
              </a:lnSpc>
            </a:pPr>
            <a:endParaRPr lang="en-IN" sz="1400" b="0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400" b="1" spc="-1" dirty="0">
                <a:solidFill>
                  <a:srgbClr val="000000"/>
                </a:solidFill>
              </a:rPr>
              <a:t>Ronik Kumar </a:t>
            </a:r>
            <a:r>
              <a:rPr lang="en-IN" sz="1400" b="1" spc="-1">
                <a:solidFill>
                  <a:srgbClr val="000000"/>
                </a:solidFill>
              </a:rPr>
              <a:t>Das                     2141004063</a:t>
            </a:r>
            <a:endParaRPr lang="en-IN" sz="1400" b="1" spc="-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endParaRPr lang="en-IN" sz="1400" b="1" strike="noStrike" spc="-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r>
              <a:rPr lang="en-IN" sz="1400" b="1" spc="-1" dirty="0">
                <a:solidFill>
                  <a:srgbClr val="000000"/>
                </a:solidFill>
              </a:rPr>
              <a:t>Saugat Mohanty                       2141013224</a:t>
            </a:r>
          </a:p>
          <a:p>
            <a:pPr>
              <a:lnSpc>
                <a:spcPct val="100000"/>
              </a:lnSpc>
            </a:pPr>
            <a:endParaRPr lang="en-IN" sz="1400" b="1" strike="noStrike" spc="-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r>
              <a:rPr lang="en-IN" sz="1400" b="1" spc="-1" dirty="0">
                <a:solidFill>
                  <a:srgbClr val="000000"/>
                </a:solidFill>
              </a:rPr>
              <a:t>Ankit Mishra                             2141013145</a:t>
            </a:r>
          </a:p>
          <a:p>
            <a:pPr>
              <a:lnSpc>
                <a:spcPct val="100000"/>
              </a:lnSpc>
            </a:pPr>
            <a:endParaRPr lang="en-IN" sz="1400" b="1" strike="noStrike" spc="-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r>
              <a:rPr lang="en-IN" sz="1400" b="1" strike="noStrike" spc="-1" dirty="0" err="1">
                <a:solidFill>
                  <a:srgbClr val="000000"/>
                </a:solidFill>
              </a:rPr>
              <a:t>Swoyam</a:t>
            </a:r>
            <a:r>
              <a:rPr lang="en-IN" sz="1400" b="1" strike="noStrike" spc="-1" dirty="0">
                <a:solidFill>
                  <a:srgbClr val="000000"/>
                </a:solidFill>
              </a:rPr>
              <a:t> Prakash Mohanty     21410132</a:t>
            </a:r>
            <a:r>
              <a:rPr lang="en-IN" sz="1400" b="1" spc="-1" dirty="0">
                <a:solidFill>
                  <a:srgbClr val="000000"/>
                </a:solidFill>
              </a:rPr>
              <a:t>26</a:t>
            </a:r>
            <a:endParaRPr lang="en-IN" sz="1400" b="0" strike="noStrike" spc="-1" dirty="0"/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5004048" y="3944752"/>
            <a:ext cx="4016936" cy="8295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Department of Computer Sc. and Engineering</a:t>
            </a:r>
            <a:endParaRPr lang="en-IN" sz="1400" b="1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strike="noStrike" spc="-1" dirty="0">
                <a:solidFill>
                  <a:srgbClr val="000000"/>
                </a:solidFill>
                <a:latin typeface="Gill Sans MT"/>
              </a:rPr>
              <a:t>Faculty of Engineering &amp; Technology (ITER)</a:t>
            </a:r>
            <a:endParaRPr lang="en-IN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Siksha ‘O’ </a:t>
            </a:r>
            <a:r>
              <a:rPr lang="en-IN" sz="1100" b="1" strike="noStrike" spc="-1" dirty="0" err="1">
                <a:solidFill>
                  <a:srgbClr val="000000"/>
                </a:solidFill>
                <a:latin typeface="Gill Sans MT"/>
              </a:rPr>
              <a:t>Anusandhan</a:t>
            </a: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 (Deemed to be) University</a:t>
            </a:r>
            <a:r>
              <a:rPr lang="en-IN" sz="1100" b="0" strike="noStrike" spc="-1" dirty="0">
                <a:solidFill>
                  <a:srgbClr val="000000"/>
                </a:solidFill>
                <a:latin typeface="Gill Sans M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Bhubaneswar, Odisha</a:t>
            </a:r>
            <a:endParaRPr lang="en-IN" sz="1100" b="0" strike="noStrike" spc="-1" dirty="0">
              <a:latin typeface="Arial"/>
            </a:endParaRPr>
          </a:p>
        </p:txBody>
      </p:sp>
      <p:sp>
        <p:nvSpPr>
          <p:cNvPr id="98" name="TextShape 5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F277BE30-6CD2-45EB-896E-478D60EBC98C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155520" y="-108270"/>
            <a:ext cx="304560" cy="2284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00" name="Picture 3"/>
          <p:cNvPicPr/>
          <p:nvPr/>
        </p:nvPicPr>
        <p:blipFill>
          <a:blip r:embed="rId2" cstate="print"/>
          <a:stretch/>
        </p:blipFill>
        <p:spPr>
          <a:xfrm>
            <a:off x="8172400" y="357480"/>
            <a:ext cx="826880" cy="77411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114725" y="267494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66500" lnSpcReduction="20000"/>
          </a:bodyPr>
          <a:lstStyle/>
          <a:p>
            <a:pPr>
              <a:lnSpc>
                <a:spcPct val="100000"/>
              </a:lnSpc>
            </a:pPr>
            <a:r>
              <a:rPr lang="en-US" sz="4300" b="1" strike="noStrike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  <a:t>Presentation Outline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endParaRPr lang="en-US" sz="43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347581" y="592878"/>
            <a:ext cx="8504804" cy="449311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65760" indent="-282960">
              <a:lnSpc>
                <a:spcPct val="100000"/>
              </a:lnSpc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200" b="0" strike="noStrike" spc="-1" dirty="0"/>
              <a:t>Introduction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200" b="0" strike="noStrike" spc="-1" dirty="0"/>
              <a:t>Project Overview and problem Statement</a:t>
            </a:r>
            <a:endParaRPr lang="en-US" sz="1200" spc="-1" dirty="0"/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200" spc="-1" dirty="0"/>
              <a:t>Objectives &amp; Motivations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200" spc="-1" dirty="0">
                <a:solidFill>
                  <a:srgbClr val="000000"/>
                </a:solidFill>
              </a:rPr>
              <a:t>Literature Review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200" spc="-1" dirty="0">
                <a:solidFill>
                  <a:srgbClr val="000000"/>
                </a:solidFill>
              </a:rPr>
              <a:t>Existing Solutions and Improvements Over Existing Solutions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200" spc="-1" dirty="0">
                <a:solidFill>
                  <a:srgbClr val="000000"/>
                </a:solidFill>
              </a:rPr>
              <a:t>Proposed Solution &amp; Architecture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200" spc="-1" dirty="0">
                <a:solidFill>
                  <a:srgbClr val="000000"/>
                </a:solidFill>
              </a:rPr>
              <a:t>Schematic Layout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200" spc="-1" dirty="0">
                <a:solidFill>
                  <a:srgbClr val="000000"/>
                </a:solidFill>
              </a:rPr>
              <a:t>Key Components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200" spc="-1" dirty="0">
                <a:solidFill>
                  <a:srgbClr val="000000"/>
                </a:solidFill>
                <a:latin typeface="+mj-lt"/>
              </a:rPr>
              <a:t>Implementation Details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200" spc="-1" dirty="0">
                <a:solidFill>
                  <a:srgbClr val="000000"/>
                </a:solidFill>
              </a:rPr>
              <a:t>Algorithms &amp; Tools Used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200" spc="-1" dirty="0">
                <a:solidFill>
                  <a:srgbClr val="000000"/>
                </a:solidFill>
                <a:latin typeface="+mj-lt"/>
              </a:rPr>
              <a:t>Results and Analysis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200" spc="-1" dirty="0">
                <a:solidFill>
                  <a:srgbClr val="000000"/>
                </a:solidFill>
                <a:latin typeface="+mj-lt"/>
              </a:rPr>
              <a:t>Test Results– Performance Metrics  and System Outputs and Screenshots   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200" spc="-1" dirty="0">
                <a:solidFill>
                  <a:srgbClr val="000000"/>
                </a:solidFill>
                <a:latin typeface="+mj-lt"/>
              </a:rPr>
              <a:t>Performance Comparison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200" b="0" strike="noStrike" spc="-1" dirty="0">
                <a:solidFill>
                  <a:srgbClr val="000000"/>
                </a:solidFill>
              </a:rPr>
              <a:t>Conclusion </a:t>
            </a:r>
            <a:r>
              <a:rPr lang="en-US" sz="1200" spc="-1" dirty="0">
                <a:solidFill>
                  <a:srgbClr val="000000"/>
                </a:solidFill>
                <a:latin typeface="+mj-lt"/>
              </a:rPr>
              <a:t>&amp; Future Work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200" b="0" strike="noStrike" spc="-1" dirty="0">
                <a:solidFill>
                  <a:srgbClr val="000000"/>
                </a:solidFill>
                <a:latin typeface="+mj-lt"/>
              </a:rPr>
              <a:t>Key</a:t>
            </a:r>
            <a:r>
              <a:rPr lang="en-US" sz="1200" spc="-1" dirty="0">
                <a:solidFill>
                  <a:srgbClr val="000000"/>
                </a:solidFill>
                <a:latin typeface="+mj-lt"/>
              </a:rPr>
              <a:t> Finding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200" b="0" strike="noStrike" spc="-1" dirty="0">
                <a:solidFill>
                  <a:srgbClr val="000000"/>
                </a:solidFill>
                <a:latin typeface="+mj-lt"/>
              </a:rPr>
              <a:t>Scope f</a:t>
            </a:r>
            <a:r>
              <a:rPr lang="en-US" sz="1200" spc="-1" dirty="0">
                <a:solidFill>
                  <a:srgbClr val="000000"/>
                </a:solidFill>
                <a:latin typeface="+mj-lt"/>
              </a:rPr>
              <a:t>or Improvement or Extension</a:t>
            </a:r>
            <a:endParaRPr lang="en-US" sz="1200" b="0" strike="noStrike" spc="-1" dirty="0">
              <a:solidFill>
                <a:srgbClr val="000000"/>
              </a:solidFill>
              <a:latin typeface="+mj-lt"/>
            </a:endParaRPr>
          </a:p>
          <a:p>
            <a:pPr marL="3657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200" spc="-1" dirty="0">
                <a:solidFill>
                  <a:srgbClr val="000000"/>
                </a:solidFill>
              </a:rPr>
              <a:t>Bibliography</a:t>
            </a:r>
            <a:endParaRPr lang="en-US" sz="1200" spc="-1" dirty="0">
              <a:solidFill>
                <a:srgbClr val="000000"/>
              </a:solidFill>
            </a:endParaRPr>
          </a:p>
        </p:txBody>
      </p:sp>
      <p:sp>
        <p:nvSpPr>
          <p:cNvPr id="103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98A15F4-BA1A-4DF0-8C36-812FE3A649CD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4" name="Picture 2"/>
          <p:cNvPicPr/>
          <p:nvPr/>
        </p:nvPicPr>
        <p:blipFill>
          <a:blip r:embed="rId2" cstate="print"/>
          <a:stretch/>
        </p:blipFill>
        <p:spPr>
          <a:xfrm>
            <a:off x="8207896" y="0"/>
            <a:ext cx="936104" cy="9155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  <a:t>Introduction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85155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r>
              <a:rPr lang="en-US" sz="24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Project overview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Distracted driving is a significant issue worldwide, leading to numerous traffic accidents, injuries, and fatalities.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000" spc="-1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The increase in electronic device usage while driving, such as texting, making calls, and using in-car technologies, is a key factor.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000" spc="-1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Addressing the dangers of distracted driving requires urgent and proactive measures to improve road safety</a:t>
            </a:r>
            <a:r>
              <a:rPr lang="en-US" sz="2400" dirty="0"/>
              <a:t>.</a:t>
            </a: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b="0" strike="noStrike" spc="-1" dirty="0">
              <a:solidFill>
                <a:schemeClr val="accent5">
                  <a:lumMod val="75000"/>
                </a:schemeClr>
              </a:solidFill>
              <a:latin typeface="Gill Sans MT"/>
            </a:endParaRPr>
          </a:p>
          <a:p>
            <a:endParaRPr lang="en-US" sz="2800" b="0" strike="noStrike" spc="-1" dirty="0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3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41432" y="0"/>
            <a:ext cx="970168" cy="9155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188304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  <a:t>Introduction </a:t>
            </a:r>
            <a:r>
              <a:rPr lang="en-US" sz="2800" b="1" spc="-1" dirty="0" err="1">
                <a:solidFill>
                  <a:srgbClr val="572314"/>
                </a:solidFill>
                <a:latin typeface="+mj-lt"/>
                <a:cs typeface="Times New Roman" pitchFamily="18" charset="0"/>
              </a:rPr>
              <a:t>Contd</a:t>
            </a:r>
            <a:r>
              <a:rPr lang="en-US" sz="2800" b="1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  <a:t>…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915566"/>
            <a:ext cx="8641964" cy="422604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indent="-4572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Problem Statement </a:t>
            </a:r>
            <a:endParaRPr lang="en-US" sz="2400" spc="-1" dirty="0">
              <a:solidFill>
                <a:schemeClr val="tx2">
                  <a:lumMod val="60000"/>
                  <a:lumOff val="40000"/>
                </a:schemeClr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endParaRPr lang="en-US" dirty="0"/>
          </a:p>
          <a:p>
            <a:pPr marL="457200" indent="-457200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/>
              <a:t>Functionality:</a:t>
            </a:r>
            <a:r>
              <a:rPr lang="en-US" dirty="0"/>
              <a:t> Detects distractions such as </a:t>
            </a:r>
            <a:r>
              <a:rPr lang="en-US" b="1" dirty="0"/>
              <a:t>texting, calling, eating, or reaching for objects</a:t>
            </a:r>
            <a:r>
              <a:rPr lang="en-US" dirty="0"/>
              <a:t> using live video analysis.</a:t>
            </a:r>
          </a:p>
          <a:p>
            <a:pPr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endParaRPr lang="en-US" dirty="0"/>
          </a:p>
          <a:p>
            <a:pPr marL="457200" indent="-457200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/>
              <a:t>Scope:</a:t>
            </a:r>
            <a:r>
              <a:rPr lang="en-US" dirty="0"/>
              <a:t> Focused on </a:t>
            </a:r>
            <a:r>
              <a:rPr lang="en-US" b="1" dirty="0"/>
              <a:t>visual-based detection</a:t>
            </a:r>
            <a:r>
              <a:rPr lang="en-US" dirty="0"/>
              <a:t>, excluding biometric sensors or eye-tracking methods.</a:t>
            </a:r>
          </a:p>
          <a:p>
            <a:pPr marL="457200" indent="-457200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 marL="457200" indent="-457200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en-US" b="0" strike="noStrike" spc="-1" dirty="0">
              <a:latin typeface="Gill Sans MT"/>
            </a:endParaRPr>
          </a:p>
          <a:p>
            <a:pPr marL="457200" indent="-457200"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57200" indent="-457200"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59680" indent="-457200">
              <a:lnSpc>
                <a:spcPct val="100000"/>
              </a:lnSpc>
              <a:spcBef>
                <a:spcPts val="55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4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145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5F1FC-B83E-6D32-6F87-6948D20EF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9FCC268F-444C-BABC-C20F-115E854B607A}"/>
              </a:ext>
            </a:extLst>
          </p:cNvPr>
          <p:cNvSpPr txBox="1"/>
          <p:nvPr/>
        </p:nvSpPr>
        <p:spPr>
          <a:xfrm>
            <a:off x="450891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  <a:t>Introduction </a:t>
            </a:r>
            <a:r>
              <a:rPr lang="en-US" sz="2800" b="1" spc="-1" dirty="0" err="1">
                <a:solidFill>
                  <a:srgbClr val="572314"/>
                </a:solidFill>
                <a:latin typeface="+mj-lt"/>
                <a:cs typeface="Times New Roman" pitchFamily="18" charset="0"/>
              </a:rPr>
              <a:t>Contd</a:t>
            </a:r>
            <a:r>
              <a:rPr lang="en-US" sz="2800" b="1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  <a:t>…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FA30E312-A516-FE8F-19F8-380331F8FE21}"/>
              </a:ext>
            </a:extLst>
          </p:cNvPr>
          <p:cNvSpPr txBox="1"/>
          <p:nvPr/>
        </p:nvSpPr>
        <p:spPr>
          <a:xfrm>
            <a:off x="428596" y="987575"/>
            <a:ext cx="8641964" cy="415403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indent="-4572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800" spc="-1" dirty="0">
                <a:latin typeface="Gill Sans MT" panose="020B0502020104020203" pitchFamily="34" charset="0"/>
              </a:rPr>
              <a:t> </a:t>
            </a:r>
            <a:r>
              <a:rPr lang="en-US" sz="24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Motivation</a:t>
            </a:r>
          </a:p>
          <a:p>
            <a:pPr>
              <a:buClr>
                <a:schemeClr val="accent5">
                  <a:lumMod val="75000"/>
                </a:schemeClr>
              </a:buClr>
            </a:pPr>
            <a:endParaRPr lang="en-US" sz="2800" spc="-1" dirty="0">
              <a:latin typeface="Gill Sans MT" panose="020B0502020104020203" pitchFamily="34" charset="0"/>
            </a:endParaRPr>
          </a:p>
          <a:p>
            <a:pPr marL="457200" indent="-4572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Enhancing road safety to reduce high traffic accident rates.</a:t>
            </a:r>
          </a:p>
          <a:p>
            <a:pPr>
              <a:buClr>
                <a:schemeClr val="accent5">
                  <a:lumMod val="75000"/>
                </a:schemeClr>
              </a:buClr>
            </a:pPr>
            <a:endParaRPr lang="en-US" sz="2000" dirty="0"/>
          </a:p>
          <a:p>
            <a:pPr marL="457200" indent="-4572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Law enforcement and awareness campaigns are not enough for continuous monitoring.</a:t>
            </a:r>
          </a:p>
          <a:p>
            <a:pPr>
              <a:buClr>
                <a:schemeClr val="accent5">
                  <a:lumMod val="75000"/>
                </a:schemeClr>
              </a:buClr>
            </a:pPr>
            <a:endParaRPr lang="en-US" sz="2000" dirty="0"/>
          </a:p>
          <a:p>
            <a:pPr marL="457200" indent="-4572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Deep learning with CNNs enables real-time distracted driver detection.</a:t>
            </a:r>
          </a:p>
          <a:p>
            <a:pPr>
              <a:buClr>
                <a:schemeClr val="accent5">
                  <a:lumMod val="75000"/>
                </a:schemeClr>
              </a:buClr>
            </a:pPr>
            <a:endParaRPr lang="en-US" sz="2000" dirty="0"/>
          </a:p>
          <a:p>
            <a:pPr marL="457200" indent="-4572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Provides real-time feedback to prevent accidents and save lives.</a:t>
            </a:r>
          </a:p>
          <a:p>
            <a:pPr>
              <a:buClr>
                <a:schemeClr val="accent5">
                  <a:lumMod val="75000"/>
                </a:schemeClr>
              </a:buClr>
            </a:pPr>
            <a:endParaRPr lang="en-US" sz="2000" dirty="0"/>
          </a:p>
          <a:p>
            <a:pPr marL="457200" indent="-4572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Widespread adoption could bring significant societal benefits</a:t>
            </a:r>
            <a:endParaRPr lang="en-US" sz="2000" spc="-1" dirty="0">
              <a:latin typeface="Gill Sans MT" panose="020B0502020104020203" pitchFamily="34" charset="0"/>
            </a:endParaRPr>
          </a:p>
          <a:p>
            <a:pPr>
              <a:buClr>
                <a:schemeClr val="accent5">
                  <a:lumMod val="75000"/>
                </a:schemeClr>
              </a:buClr>
            </a:pPr>
            <a:endParaRPr lang="en-US" sz="2000" spc="-1" dirty="0">
              <a:latin typeface="Gill Sans MT" panose="020B0502020104020203" pitchFamily="34" charset="0"/>
            </a:endParaRPr>
          </a:p>
          <a:p>
            <a:pPr marL="457200" indent="-4572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en-US" sz="2800" spc="-1" dirty="0">
              <a:latin typeface="Gill Sans MT" panose="020B0502020104020203" pitchFamily="34" charset="0"/>
            </a:endParaRPr>
          </a:p>
          <a:p>
            <a:pPr marL="457200" indent="-4572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en-US" sz="2800" spc="-1" dirty="0">
              <a:latin typeface="Gill Sans MT" panose="020B0502020104020203" pitchFamily="34" charset="0"/>
            </a:endParaRPr>
          </a:p>
          <a:p>
            <a:pPr marL="457200" indent="-4572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en-US" sz="2000" dirty="0">
              <a:latin typeface="Gill Sans MT" panose="020B0502020104020203" pitchFamily="34" charset="0"/>
            </a:endParaRPr>
          </a:p>
          <a:p>
            <a:pPr marL="457200" indent="-4572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en-US" sz="2800" b="0" strike="noStrike" spc="-1" dirty="0">
              <a:latin typeface="Gill Sans MT"/>
            </a:endParaRPr>
          </a:p>
          <a:p>
            <a:pPr marL="457200" indent="-457200"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57200" indent="-457200"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59680" indent="-457200">
              <a:lnSpc>
                <a:spcPct val="100000"/>
              </a:lnSpc>
              <a:spcBef>
                <a:spcPts val="55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CDD431E4-068A-451E-FC26-9DB3F3975F87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5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1C31320D-C27E-1886-E176-53F74A5E9FE9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4778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  <a:t>Introduction </a:t>
            </a:r>
            <a:r>
              <a:rPr lang="en-US" sz="2800" b="1" spc="-1" dirty="0" err="1">
                <a:solidFill>
                  <a:srgbClr val="572314"/>
                </a:solidFill>
                <a:latin typeface="+mj-lt"/>
                <a:cs typeface="Times New Roman" pitchFamily="18" charset="0"/>
              </a:rPr>
              <a:t>Contd</a:t>
            </a:r>
            <a:r>
              <a:rPr lang="en-US" sz="2800" b="1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  <a:t>…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59230" y="1087496"/>
            <a:ext cx="8793290" cy="405600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r>
              <a:rPr lang="en-US" sz="24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Objectives &amp; Expected Impact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400" spc="-1" dirty="0">
              <a:solidFill>
                <a:srgbClr val="000000"/>
              </a:solidFill>
              <a:latin typeface="Gill Sans MT"/>
            </a:endParaRP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Develop a deep learning model to classify driver behaviors and detect distractions</a:t>
            </a:r>
            <a:r>
              <a:rPr lang="en-US" sz="2400" dirty="0"/>
              <a:t>.</a:t>
            </a: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dirty="0"/>
              <a:t>Reduce accidents caused by distractions like texting, eating, or using a phone while driving.</a:t>
            </a: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dirty="0"/>
              <a:t>Provide a tool that law enforcement and vehicle manufacturers can integrate into monitoring systems.</a:t>
            </a: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dirty="0"/>
              <a:t>Create an open-source, accessible solution for further advancements in the field.</a:t>
            </a: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dirty="0"/>
              <a:t>Contribute to research in </a:t>
            </a:r>
            <a:r>
              <a:rPr lang="en-US" b="1" dirty="0"/>
              <a:t>computer vision</a:t>
            </a:r>
            <a:r>
              <a:rPr lang="en-US" dirty="0"/>
              <a:t> and </a:t>
            </a:r>
            <a:r>
              <a:rPr lang="en-US" b="1" dirty="0"/>
              <a:t>automated driver monitoring systems</a:t>
            </a:r>
            <a:r>
              <a:rPr lang="en-US" dirty="0"/>
              <a:t>.</a:t>
            </a: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000" spc="-1" dirty="0">
              <a:solidFill>
                <a:srgbClr val="000000"/>
              </a:solidFill>
              <a:latin typeface="Gill Sans MT"/>
            </a:endParaRPr>
          </a:p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6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76828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1015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232534" y="234859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lang="en-IN" dirty="0"/>
            </a:br>
            <a:r>
              <a:rPr lang="en-US" sz="59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 </a:t>
            </a: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/>
          <p:cNvSpPr txBox="1"/>
          <p:nvPr/>
        </p:nvSpPr>
        <p:spPr>
          <a:xfrm>
            <a:off x="73440" y="680966"/>
            <a:ext cx="8997120" cy="445305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4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Existing Solutions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r>
              <a:rPr lang="en-US" sz="1600" b="1" dirty="0"/>
              <a:t>        Table-1:Literature Survey of the Deep Learning for Detecting Distracted Drivers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7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/>
          <p:cNvPicPr/>
          <p:nvPr/>
        </p:nvPicPr>
        <p:blipFill>
          <a:blip r:embed="rId3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2D5564-980A-03B2-E62C-46E82C34C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176183"/>
              </p:ext>
            </p:extLst>
          </p:nvPr>
        </p:nvGraphicFramePr>
        <p:xfrm>
          <a:off x="245441" y="1150425"/>
          <a:ext cx="8689442" cy="3381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374">
                  <a:extLst>
                    <a:ext uri="{9D8B030D-6E8A-4147-A177-3AD203B41FA5}">
                      <a16:colId xmlns:a16="http://schemas.microsoft.com/office/drawing/2014/main" val="3748350240"/>
                    </a:ext>
                  </a:extLst>
                </a:gridCol>
                <a:gridCol w="2287420">
                  <a:extLst>
                    <a:ext uri="{9D8B030D-6E8A-4147-A177-3AD203B41FA5}">
                      <a16:colId xmlns:a16="http://schemas.microsoft.com/office/drawing/2014/main" val="2219462309"/>
                    </a:ext>
                  </a:extLst>
                </a:gridCol>
                <a:gridCol w="1976174">
                  <a:extLst>
                    <a:ext uri="{9D8B030D-6E8A-4147-A177-3AD203B41FA5}">
                      <a16:colId xmlns:a16="http://schemas.microsoft.com/office/drawing/2014/main" val="226329390"/>
                    </a:ext>
                  </a:extLst>
                </a:gridCol>
                <a:gridCol w="2235276">
                  <a:extLst>
                    <a:ext uri="{9D8B030D-6E8A-4147-A177-3AD203B41FA5}">
                      <a16:colId xmlns:a16="http://schemas.microsoft.com/office/drawing/2014/main" val="80864719"/>
                    </a:ext>
                  </a:extLst>
                </a:gridCol>
                <a:gridCol w="1621198">
                  <a:extLst>
                    <a:ext uri="{9D8B030D-6E8A-4147-A177-3AD203B41FA5}">
                      <a16:colId xmlns:a16="http://schemas.microsoft.com/office/drawing/2014/main" val="3620753416"/>
                    </a:ext>
                  </a:extLst>
                </a:gridCol>
              </a:tblGrid>
              <a:tr h="668988">
                <a:tc>
                  <a:txBody>
                    <a:bodyPr/>
                    <a:lstStyle/>
                    <a:p>
                      <a:r>
                        <a:rPr lang="en-US" sz="1600" dirty="0" err="1"/>
                        <a:t>Sl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No.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  Research Paper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  Published By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Information Gain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Limitations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285403"/>
                  </a:ext>
                </a:extLst>
              </a:tr>
              <a:tr h="79797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behavior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detection and classification using deep convolutional neural networks. (2020)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Shahverdy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Mohammad &amp; Fathy, Mahmood &amp;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Berangi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Reza &amp;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Sabokrou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Mohammad. 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This paper presents a CNN-based method using vehicle signals and recurrence plots for accurate driver behavior detection</a:t>
                      </a:r>
                      <a:r>
                        <a:rPr lang="en-US" sz="800" dirty="0"/>
                        <a:t>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Limited real-world generalization due to only three drivers and reliance on vehicle sensors for intent.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870961"/>
                  </a:ext>
                </a:extLst>
              </a:tr>
              <a:tr h="94046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Computer vision-based recognition of driver distraction: A review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(2021)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Moslemi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Negar &amp;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Soryani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Mohsen &amp; Azmi, Reza.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This review explores computer vision methods for recognizing manual driver distractions, datasets, challenges, and implementations.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Performance drops with occlusions, lighting changes; limited diverse datasets hinder generalization and consistent benchmarking.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186601"/>
                  </a:ext>
                </a:extLst>
              </a:tr>
              <a:tr h="79797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Distracted driver classification using deep learning</a:t>
                      </a:r>
                    </a:p>
                    <a:p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(2020) 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Alotaibi, Bandar &amp; Alotaibi, Munif. 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This study proposes a hybrid deep learning model to classify distracted driver behaviors from dashboard images.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Higher computation time than simpler models; performance relies on large, diverse training data availability.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0523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76731-A251-8BE2-0815-0014EE486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620A79A4-2A35-C7AA-C078-B0B0F400453F}"/>
              </a:ext>
            </a:extLst>
          </p:cNvPr>
          <p:cNvSpPr txBox="1"/>
          <p:nvPr/>
        </p:nvSpPr>
        <p:spPr>
          <a:xfrm>
            <a:off x="232534" y="234859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lang="en-IN" dirty="0"/>
            </a:br>
            <a:r>
              <a:rPr lang="en-US" sz="59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 </a:t>
            </a:r>
            <a:r>
              <a:rPr lang="en-US" sz="5900" b="1" spc="-1" dirty="0" err="1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Contd</a:t>
            </a:r>
            <a:r>
              <a:rPr lang="en-US" sz="59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… </a:t>
            </a: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4D5807EE-B96D-E5E7-4E93-36979F3A9787}"/>
              </a:ext>
            </a:extLst>
          </p:cNvPr>
          <p:cNvSpPr txBox="1"/>
          <p:nvPr/>
        </p:nvSpPr>
        <p:spPr>
          <a:xfrm>
            <a:off x="73440" y="680966"/>
            <a:ext cx="8997120" cy="445305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r>
              <a:rPr lang="en-US" sz="2400" b="1" spc="-1" dirty="0">
                <a:solidFill>
                  <a:schemeClr val="accent1"/>
                </a:solidFill>
                <a:latin typeface="+mj-lt"/>
              </a:rPr>
              <a:t>Existing Solution</a:t>
            </a: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spcBef>
                <a:spcPts val="601"/>
              </a:spcBef>
            </a:pPr>
            <a:endParaRPr lang="en-US" sz="2400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spcBef>
                <a:spcPts val="601"/>
              </a:spcBef>
            </a:pPr>
            <a:r>
              <a:rPr lang="en-US" sz="1600" b="1" dirty="0"/>
              <a:t>Table-1:Literature Survey of the Deep Learning for Detecting Distracted Drivers.(Contd..) </a:t>
            </a: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E864557B-8AD9-B483-512A-1FCF94326071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8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0F19F0AF-BF05-ACBB-20E1-0E064216B517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3A0EBC-8EC0-9F60-5DA0-B34D14A17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46857"/>
              </p:ext>
            </p:extLst>
          </p:nvPr>
        </p:nvGraphicFramePr>
        <p:xfrm>
          <a:off x="170775" y="1212432"/>
          <a:ext cx="8802449" cy="3176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092">
                  <a:extLst>
                    <a:ext uri="{9D8B030D-6E8A-4147-A177-3AD203B41FA5}">
                      <a16:colId xmlns:a16="http://schemas.microsoft.com/office/drawing/2014/main" val="3748350240"/>
                    </a:ext>
                  </a:extLst>
                </a:gridCol>
                <a:gridCol w="2429774">
                  <a:extLst>
                    <a:ext uri="{9D8B030D-6E8A-4147-A177-3AD203B41FA5}">
                      <a16:colId xmlns:a16="http://schemas.microsoft.com/office/drawing/2014/main" val="221946230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26329390"/>
                    </a:ext>
                  </a:extLst>
                </a:gridCol>
                <a:gridCol w="1982159">
                  <a:extLst>
                    <a:ext uri="{9D8B030D-6E8A-4147-A177-3AD203B41FA5}">
                      <a16:colId xmlns:a16="http://schemas.microsoft.com/office/drawing/2014/main" val="80864719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3620753416"/>
                    </a:ext>
                  </a:extLst>
                </a:gridCol>
              </a:tblGrid>
              <a:tr h="615815">
                <a:tc>
                  <a:txBody>
                    <a:bodyPr/>
                    <a:lstStyle/>
                    <a:p>
                      <a:r>
                        <a:rPr lang="en-US" sz="1600" dirty="0" err="1"/>
                        <a:t>Sl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No.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  Research Paper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      Citation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Information Gain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Limitations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285403"/>
                  </a:ext>
                </a:extLst>
              </a:tr>
              <a:tr h="84322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Automatic driver distraction detection using deep convolutional neural networks. (2022)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Hossain, Md &amp; Rahman, Md &amp; Islam,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Manowarul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Akhter, Arnisha &amp; Uddin, Md Ashraf &amp; Paul, Bikash Kumar. 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This paper uses transfer learning (VGG-16, ResNet50, MobileNetV2) for accurate, efficient distracted driver detection.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Real-time deployment and generalization unvalidated; performance may decline with limited or imbalanced data.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870961"/>
                  </a:ext>
                </a:extLst>
              </a:tr>
              <a:tr h="81066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Distraction Detection Based on Driver's Visual Features. (2019)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Alam, Lamia &amp; Hoque,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Moshiul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This paper achieves 92% accuracy detecting driver distraction in real-time using eye and head movement features.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Eye detection fails with sunglasses or poor lighting; small sample size limits generalizability to populations.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186601"/>
                  </a:ext>
                </a:extLst>
              </a:tr>
              <a:tr h="84322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Distracted Driver Detection: A Comparative Study Using CNN.</a:t>
                      </a:r>
                    </a:p>
                    <a:p>
                      <a:r>
                        <a:rPr lang="en-IN" sz="1000" dirty="0"/>
                        <a:t>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Jagadale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Sujay &amp; Attar,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Pirsab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Presents CNN approach with custom and pre-trained models classifying distracted driving using real dashboard camera images.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Model accuracy drops with lighting or angle changes; continuous image monitoring raises privacy concerns.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052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6752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B8915-DBA1-6EFB-BE4D-5E0DC8886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3AAC118D-401B-CCD0-6F88-A7EB386B4AB6}"/>
              </a:ext>
            </a:extLst>
          </p:cNvPr>
          <p:cNvSpPr txBox="1"/>
          <p:nvPr/>
        </p:nvSpPr>
        <p:spPr>
          <a:xfrm>
            <a:off x="232534" y="234859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lang="en-IN" dirty="0"/>
            </a:br>
            <a:r>
              <a:rPr lang="en-US" sz="59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 </a:t>
            </a:r>
            <a:r>
              <a:rPr lang="en-US" sz="5900" b="1" spc="-1" dirty="0" err="1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Contd</a:t>
            </a:r>
            <a:r>
              <a:rPr lang="en-US" sz="59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… </a:t>
            </a: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9D29A654-391B-2DAB-A1DF-A1683C91811A}"/>
              </a:ext>
            </a:extLst>
          </p:cNvPr>
          <p:cNvSpPr txBox="1"/>
          <p:nvPr/>
        </p:nvSpPr>
        <p:spPr>
          <a:xfrm>
            <a:off x="73440" y="690442"/>
            <a:ext cx="8997120" cy="445305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4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Existing Solutions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r>
              <a:rPr lang="en-US" sz="1600" b="1" dirty="0"/>
              <a:t> Table-1: Literature Survey of the Deep Learning for Detecting Distracted Drivers (Contd..) 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550A3710-E760-4BAA-B3F5-F20B512B161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9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358F6C69-4AB2-7345-97FA-715A1356DAA8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2BBB63-7D3F-8FEA-073F-604A0C75A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32933"/>
              </p:ext>
            </p:extLst>
          </p:nvPr>
        </p:nvGraphicFramePr>
        <p:xfrm>
          <a:off x="202335" y="1116707"/>
          <a:ext cx="8739329" cy="337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188">
                  <a:extLst>
                    <a:ext uri="{9D8B030D-6E8A-4147-A177-3AD203B41FA5}">
                      <a16:colId xmlns:a16="http://schemas.microsoft.com/office/drawing/2014/main" val="3748350240"/>
                    </a:ext>
                  </a:extLst>
                </a:gridCol>
                <a:gridCol w="2245258">
                  <a:extLst>
                    <a:ext uri="{9D8B030D-6E8A-4147-A177-3AD203B41FA5}">
                      <a16:colId xmlns:a16="http://schemas.microsoft.com/office/drawing/2014/main" val="2219462309"/>
                    </a:ext>
                  </a:extLst>
                </a:gridCol>
                <a:gridCol w="1989441">
                  <a:extLst>
                    <a:ext uri="{9D8B030D-6E8A-4147-A177-3AD203B41FA5}">
                      <a16:colId xmlns:a16="http://schemas.microsoft.com/office/drawing/2014/main" val="226329390"/>
                    </a:ext>
                  </a:extLst>
                </a:gridCol>
                <a:gridCol w="2131544">
                  <a:extLst>
                    <a:ext uri="{9D8B030D-6E8A-4147-A177-3AD203B41FA5}">
                      <a16:colId xmlns:a16="http://schemas.microsoft.com/office/drawing/2014/main" val="80864719"/>
                    </a:ext>
                  </a:extLst>
                </a:gridCol>
                <a:gridCol w="1809898">
                  <a:extLst>
                    <a:ext uri="{9D8B030D-6E8A-4147-A177-3AD203B41FA5}">
                      <a16:colId xmlns:a16="http://schemas.microsoft.com/office/drawing/2014/main" val="3620753416"/>
                    </a:ext>
                  </a:extLst>
                </a:gridCol>
              </a:tblGrid>
              <a:tr h="640197">
                <a:tc>
                  <a:txBody>
                    <a:bodyPr/>
                    <a:lstStyle/>
                    <a:p>
                      <a:r>
                        <a:rPr lang="en-US" sz="1600" dirty="0" err="1"/>
                        <a:t>Sl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No.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  Research Paper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      Citation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 Information Gain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 Limitations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285403"/>
                  </a:ext>
                </a:extLst>
              </a:tr>
              <a:tr h="87197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Enhancing Driver Safety with MobileNetV2-Based Transfer Learning for Drowsiness Detection.</a:t>
                      </a:r>
                    </a:p>
                    <a:p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(2025)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Rajput, Ishwari &amp; Tyagi, Sonam &amp; Pandey, Vandana &amp; Upreti, Abha &amp; Kukreja, Jasleen. 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This study uses transfer learning for real-time eye-based drowsiness detection, achieving 98.5% accuracy.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Accuracy drops with poor lighting or low camera quality; high processing power needed for real-time use.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870961"/>
                  </a:ext>
                </a:extLst>
              </a:tr>
              <a:tr h="83925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 Driver Assistance: Real-Time Drowsiness Detection Leveraging Facial Cues with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MediaPipe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OpenCV. (2024)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Reddy,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Ariveeti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Khan, Ibrahim &amp; T, Neethu &amp; Thampi, Lidiya &amp; A, Aswathy &amp; Kumar, Abhishek &amp; Kumar, Sunny.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Presents real-time driver alert system using facial cues and CNN, combining computer vision for accurate detection.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CNNs perform poorly in low light and varied conditions; </a:t>
                      </a:r>
                      <a:r>
                        <a:rPr lang="en-US" sz="1000" dirty="0" err="1"/>
                        <a:t>Dlib</a:t>
                      </a:r>
                      <a:r>
                        <a:rPr lang="en-US" sz="1000" dirty="0"/>
                        <a:t> is unstable for head tracking.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186601"/>
                  </a:ext>
                </a:extLst>
              </a:tr>
              <a:tr h="95165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Enhancing Road Safety: Real-Time Detection of Driver Distraction through Convolutional Neural Networks. (2024)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Sheikh, Amaan &amp; Khan, Imaad.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This study compares CNN and hybrid CNN-Transformer architectures for real-time driver distraction detection, achieving 98% accuracy using fine-tuned deep learning models.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High-performing models require powerful hardware, limiting deployment; deeper models slow processing, reducing real-time responsiveness.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052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483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827A4-2822-4550-1007-372AB9F4D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442D7348-98B8-34C2-C812-94D03A96963D}"/>
              </a:ext>
            </a:extLst>
          </p:cNvPr>
          <p:cNvSpPr txBox="1"/>
          <p:nvPr/>
        </p:nvSpPr>
        <p:spPr>
          <a:xfrm>
            <a:off x="392055" y="252476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lang="en-IN" dirty="0"/>
            </a:br>
            <a:r>
              <a:rPr lang="en-US" sz="5900" b="1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  <a:t>Literature Review </a:t>
            </a:r>
            <a:r>
              <a:rPr lang="en-US" sz="5900" b="1" spc="-1" dirty="0" err="1">
                <a:solidFill>
                  <a:srgbClr val="572314"/>
                </a:solidFill>
                <a:latin typeface="+mj-lt"/>
                <a:cs typeface="Times New Roman" pitchFamily="18" charset="0"/>
              </a:rPr>
              <a:t>Contd</a:t>
            </a:r>
            <a:r>
              <a:rPr lang="en-US" sz="5900" b="1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  <a:t>…</a:t>
            </a: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3AFFBA58-AB93-7769-BA91-696E8A6E07BA}"/>
              </a:ext>
            </a:extLst>
          </p:cNvPr>
          <p:cNvSpPr txBox="1"/>
          <p:nvPr/>
        </p:nvSpPr>
        <p:spPr>
          <a:xfrm>
            <a:off x="339775" y="1133680"/>
            <a:ext cx="8395050" cy="395231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1600" b="1" dirty="0"/>
              <a:t> </a:t>
            </a:r>
            <a:r>
              <a:rPr lang="en-US" sz="24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Improvements Over Existing Solutions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400" b="1" spc="-1" dirty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IN" sz="2000" b="1" dirty="0"/>
              <a:t>Automated Data Handling</a:t>
            </a:r>
            <a:r>
              <a:rPr lang="en-IN" sz="2000" dirty="0"/>
              <a:t> – Faster dataset retrieval &amp; processing.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IN" sz="2000" dirty="0"/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b="1" dirty="0"/>
              <a:t>Optimized Training</a:t>
            </a:r>
            <a:r>
              <a:rPr lang="en-US" sz="2000" dirty="0"/>
              <a:t> – Efficient hyperparameters &amp; visualization tools.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IN" sz="2000" dirty="0"/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b="1" dirty="0"/>
              <a:t>Performance Boost</a:t>
            </a:r>
            <a:r>
              <a:rPr lang="en-US" sz="2000" dirty="0"/>
              <a:t> – Faster training with better preprocessing.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000" dirty="0"/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b="1" dirty="0"/>
              <a:t>Higher Accuracy</a:t>
            </a:r>
            <a:r>
              <a:rPr lang="en-US" sz="2000" dirty="0"/>
              <a:t> – Advanced augmentation &amp; potential ensemble models.</a:t>
            </a:r>
            <a:endParaRPr lang="en-US" sz="2000" b="1" spc="-1" dirty="0">
              <a:solidFill>
                <a:srgbClr val="000000"/>
              </a:solidFill>
            </a:endParaRP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1600" b="1" dirty="0"/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57F19A5C-E1E7-DF41-8108-E8DBF9E832DC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10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D548EBD1-AE2F-9FD0-E9F9-927ED937A356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5758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258E1-3718-4E33-F357-0F1C4B6CB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24C45FC1-DD85-5832-101A-666B576E6A99}"/>
              </a:ext>
            </a:extLst>
          </p:cNvPr>
          <p:cNvSpPr txBox="1"/>
          <p:nvPr/>
        </p:nvSpPr>
        <p:spPr>
          <a:xfrm>
            <a:off x="392055" y="252476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lang="en-IN" dirty="0"/>
            </a:br>
            <a:r>
              <a:rPr lang="en-US" sz="5900" b="1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  <a:t>Proposed Solution &amp; Architecture</a:t>
            </a: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C44A23CB-3BC5-BD54-FEF3-347026E3078A}"/>
              </a:ext>
            </a:extLst>
          </p:cNvPr>
          <p:cNvSpPr txBox="1"/>
          <p:nvPr/>
        </p:nvSpPr>
        <p:spPr>
          <a:xfrm>
            <a:off x="827584" y="702209"/>
            <a:ext cx="8483127" cy="451056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r>
              <a:rPr lang="en-US" sz="24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Schematic Layout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1600" b="1" dirty="0"/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Gill Sans MT"/>
              </a:rPr>
              <a:t>                       </a:t>
            </a:r>
            <a:r>
              <a:rPr lang="en-US" sz="1600" b="1" dirty="0"/>
              <a:t>Fig 1: Schematic Layout of our Model </a:t>
            </a:r>
            <a:endParaRPr lang="en-US" sz="1600" b="1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FA80973D-C06A-9E93-12F8-C478C07F0FF3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11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794E43AA-73C1-183F-D8C4-1C23F1C2913B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C44369-ED5A-0706-1115-89513EBE7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55" y="1083047"/>
            <a:ext cx="8359890" cy="364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88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359DC-ADA7-DEE7-2D18-84F2BF4A8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31DC1767-344F-906B-E3C0-0F12D61F99AC}"/>
              </a:ext>
            </a:extLst>
          </p:cNvPr>
          <p:cNvSpPr txBox="1"/>
          <p:nvPr/>
        </p:nvSpPr>
        <p:spPr>
          <a:xfrm>
            <a:off x="392055" y="252476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lang="en-IN" dirty="0"/>
            </a:br>
            <a:r>
              <a:rPr lang="en-US" sz="5900" b="1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  <a:t>Proposed Solution &amp; Architecture </a:t>
            </a:r>
            <a:r>
              <a:rPr lang="en-US" sz="5900" b="1" spc="-1" dirty="0" err="1">
                <a:solidFill>
                  <a:srgbClr val="572314"/>
                </a:solidFill>
                <a:latin typeface="+mj-lt"/>
                <a:cs typeface="Times New Roman" pitchFamily="18" charset="0"/>
              </a:rPr>
              <a:t>Contd</a:t>
            </a:r>
            <a:r>
              <a:rPr lang="en-US" sz="5900" b="1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  <a:t>…</a:t>
            </a:r>
            <a:br>
              <a:rPr lang="en-IN" sz="5300" b="1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8517B2EA-C9F1-25F5-566A-0268CB0FAD14}"/>
              </a:ext>
            </a:extLst>
          </p:cNvPr>
          <p:cNvSpPr txBox="1"/>
          <p:nvPr/>
        </p:nvSpPr>
        <p:spPr>
          <a:xfrm>
            <a:off x="295736" y="762033"/>
            <a:ext cx="8483127" cy="43144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1600" b="1" dirty="0"/>
              <a:t> </a:t>
            </a:r>
            <a:r>
              <a:rPr lang="en-US" sz="24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Key Components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400" b="1" spc="-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b="1" dirty="0"/>
              <a:t>Dataset Handling</a:t>
            </a:r>
            <a:r>
              <a:rPr lang="en-US" sz="2000" dirty="0"/>
              <a:t> – Automated downloading &amp; extraction via Kaggle API.</a:t>
            </a: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b="1" dirty="0"/>
              <a:t>Preprocessing</a:t>
            </a:r>
            <a:r>
              <a:rPr lang="en-US" sz="2000" dirty="0"/>
              <a:t> – Data cleaning, resizing (224×224), normalization, and batch-wise loading.</a:t>
            </a: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b="1" dirty="0"/>
              <a:t>Model Training</a:t>
            </a:r>
            <a:r>
              <a:rPr lang="en-US" sz="2000" dirty="0"/>
              <a:t> – Transfer learning using MobileNetV2 with optimized parameters with hyperparameter tuning  and K-Fold validation.</a:t>
            </a: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IN" sz="2000" b="1" dirty="0"/>
              <a:t>Performance Optimization</a:t>
            </a:r>
            <a:r>
              <a:rPr lang="en-IN" sz="2000" dirty="0"/>
              <a:t> – </a:t>
            </a:r>
            <a:r>
              <a:rPr lang="en-US" sz="2000" dirty="0"/>
              <a:t>Memory-efficient generators, small batch sizes, and early stopping.</a:t>
            </a:r>
            <a:endParaRPr lang="en-US" sz="2000" b="1" spc="-1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b="1" dirty="0"/>
              <a:t>UI Deployment </a:t>
            </a:r>
            <a:r>
              <a:rPr lang="en-US" sz="2000" dirty="0"/>
              <a:t>– </a:t>
            </a:r>
            <a:r>
              <a:rPr lang="en-US" sz="2000" dirty="0" err="1"/>
              <a:t>Tkinter</a:t>
            </a:r>
            <a:r>
              <a:rPr lang="en-US" sz="2000" dirty="0"/>
              <a:t>-based real-time alert system (</a:t>
            </a:r>
            <a:r>
              <a:rPr lang="en-US" sz="2000" dirty="0" err="1"/>
              <a:t>winSound</a:t>
            </a:r>
            <a:r>
              <a:rPr lang="en-US" sz="2000" dirty="0"/>
              <a:t>) with OpenCV and model integration.</a:t>
            </a:r>
            <a:endParaRPr lang="en-IN" sz="2000" dirty="0"/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sz="20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sz="24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400" b="1" spc="-1" dirty="0">
              <a:solidFill>
                <a:srgbClr val="000000"/>
              </a:solidFill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946DDA03-D26E-A6DC-A53C-60ABBB1039F1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12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308E2528-0A07-9791-81B6-82F70F1ED56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5802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ED6F-B11E-3E14-4138-AF9B0C389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43E3F950-AEA4-00EE-346B-A1DBC9AF2775}"/>
              </a:ext>
            </a:extLst>
          </p:cNvPr>
          <p:cNvSpPr txBox="1"/>
          <p:nvPr/>
        </p:nvSpPr>
        <p:spPr>
          <a:xfrm>
            <a:off x="392055" y="252476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lang="en-IN" dirty="0"/>
            </a:br>
            <a:r>
              <a:rPr lang="en-US" sz="5900" b="1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  <a:t>Proposed Solution &amp; Architecture </a:t>
            </a:r>
            <a:r>
              <a:rPr lang="en-US" sz="5900" b="1" spc="-1" dirty="0" err="1">
                <a:solidFill>
                  <a:srgbClr val="572314"/>
                </a:solidFill>
                <a:latin typeface="+mj-lt"/>
                <a:cs typeface="Times New Roman" pitchFamily="18" charset="0"/>
              </a:rPr>
              <a:t>Contd</a:t>
            </a:r>
            <a:r>
              <a:rPr lang="en-US" sz="5900" b="1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  <a:t>…</a:t>
            </a:r>
            <a:br>
              <a:rPr lang="en-IN" sz="5300" b="1" spc="-1" dirty="0">
                <a:solidFill>
                  <a:srgbClr val="572314"/>
                </a:solidFill>
                <a:latin typeface="+mj-lt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44D82607-DE64-94BF-637A-3AC4754094A0}"/>
              </a:ext>
            </a:extLst>
          </p:cNvPr>
          <p:cNvSpPr txBox="1"/>
          <p:nvPr/>
        </p:nvSpPr>
        <p:spPr>
          <a:xfrm>
            <a:off x="295736" y="762033"/>
            <a:ext cx="8483127" cy="425799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1600" b="1" dirty="0"/>
              <a:t> </a:t>
            </a:r>
            <a:r>
              <a:rPr lang="en-US" sz="24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Key Components – </a:t>
            </a:r>
            <a:r>
              <a:rPr lang="en-US" sz="2400" b="1" spc="-1" dirty="0" err="1"/>
              <a:t>MobileNet</a:t>
            </a:r>
            <a:r>
              <a:rPr lang="en-US" sz="2400" b="1" spc="-1" dirty="0"/>
              <a:t> V2</a:t>
            </a:r>
          </a:p>
          <a:p>
            <a:pPr marL="171450" indent="-1714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pc="-1" dirty="0"/>
              <a:t>MobileNetV2 is a lightweight convolutional neural network architecture designed for embedded devices or Mobile devices .  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b="1" spc="-1" dirty="0"/>
          </a:p>
          <a:p>
            <a:pPr marL="171450" indent="-1714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pc="-1" dirty="0"/>
              <a:t>The MobileNetV2 has higher Accuracy (94.55%) Than Hyperparameter-Tuned Model (84.05%):Compact Architecture: MobileNetV2 trades accuracy for speed and </a:t>
            </a:r>
            <a:r>
              <a:rPr lang="en-US" spc="-1" dirty="0" err="1"/>
              <a:t>size.Limited</a:t>
            </a:r>
            <a:r>
              <a:rPr lang="en-US" spc="-1" dirty="0"/>
              <a:t> Capacity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pc="-1" dirty="0"/>
          </a:p>
          <a:p>
            <a:pPr marL="171450" indent="-1714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b="1" spc="-1" dirty="0"/>
              <a:t>Hyperparameter Tuning: </a:t>
            </a:r>
            <a:r>
              <a:rPr lang="en-US" spc="-1" dirty="0"/>
              <a:t>Custom models benefit from optimized learning rate, layers, dropout, etc., improving performance.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pc="-1" dirty="0"/>
          </a:p>
          <a:p>
            <a:pPr marL="171450" indent="-1714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pc="-1" dirty="0"/>
              <a:t>So, while MobileNetV2 is optimized for speed and resource efficiency, a well-tuned model usually performs better in terms of accuracy.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0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sz="24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400" b="1" spc="-1" dirty="0">
              <a:solidFill>
                <a:srgbClr val="000000"/>
              </a:solidFill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AB5022E5-E310-F9EF-7CCA-15069DD3641D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13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B782F301-C2A5-5DA3-620A-3BC3F0F109C0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0304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6E3C5-B032-65A3-2ACF-15A6A3C90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14D4E35B-DF7E-A03C-EA7B-D4155CB36D15}"/>
              </a:ext>
            </a:extLst>
          </p:cNvPr>
          <p:cNvSpPr txBox="1"/>
          <p:nvPr/>
        </p:nvSpPr>
        <p:spPr>
          <a:xfrm>
            <a:off x="392055" y="252476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lang="en-IN" dirty="0"/>
            </a:br>
            <a:r>
              <a:rPr lang="en-US" sz="5900" b="1" spc="-1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itchFamily="18" charset="0"/>
              </a:rPr>
              <a:t>Implementation Details</a:t>
            </a: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5B732CA2-533E-31F3-E4E8-8FBCA577CABA}"/>
              </a:ext>
            </a:extLst>
          </p:cNvPr>
          <p:cNvSpPr txBox="1"/>
          <p:nvPr/>
        </p:nvSpPr>
        <p:spPr>
          <a:xfrm>
            <a:off x="415040" y="842956"/>
            <a:ext cx="8678505" cy="417042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1600" b="1" dirty="0"/>
              <a:t> </a:t>
            </a:r>
            <a:r>
              <a:rPr lang="en-US" sz="24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Algorithms and Tools Used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400" b="1" spc="-1" dirty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IN" sz="2000" dirty="0"/>
              <a:t>Convolutional Neural Network (CNN) model for real-time image classification.</a:t>
            </a: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dirty="0" err="1"/>
              <a:t>ReLU</a:t>
            </a:r>
            <a:r>
              <a:rPr lang="en-US" sz="2000" dirty="0"/>
              <a:t> activation function in convolutional layers, followed by </a:t>
            </a:r>
            <a:r>
              <a:rPr lang="en-US" sz="2000" dirty="0" err="1"/>
              <a:t>softmax</a:t>
            </a:r>
            <a:r>
              <a:rPr lang="en-US" sz="2000" dirty="0"/>
              <a:t> in the fully connected layer for output probabilities.</a:t>
            </a: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Optimization: Backpropagation, transfer learning, and hyperparameter tuning for improved accuracy.</a:t>
            </a:r>
            <a:endParaRPr lang="en-US" sz="2000" b="1" spc="-1" dirty="0"/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Cross-validation: K-fold cross-validation to evaluate model performance.</a:t>
            </a: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</a:rPr>
              <a:t>Computer Vision (OpenCV)Captures real-time video feed and preprocesses frames for model input.</a:t>
            </a: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r>
              <a:rPr lang="en-US" sz="2400" b="1" spc="-1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E5B2F862-EEEB-C17B-3083-36DBE926658A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14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CFEDA5D0-AD22-C15E-81E5-772192520D31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253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52347-6EE5-1BED-943E-9BF632C3C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8FDA650D-BE1D-FA57-85C7-873874750ECD}"/>
              </a:ext>
            </a:extLst>
          </p:cNvPr>
          <p:cNvSpPr txBox="1"/>
          <p:nvPr/>
        </p:nvSpPr>
        <p:spPr>
          <a:xfrm>
            <a:off x="392055" y="252476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lang="en-IN" dirty="0"/>
            </a:br>
            <a:r>
              <a:rPr lang="en-US" sz="5900" b="1" spc="-1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itchFamily="18" charset="0"/>
              </a:rPr>
              <a:t>Implementation Details</a:t>
            </a: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1D6B525-90AE-CDB1-9CB7-DDBBAD59836A}"/>
              </a:ext>
            </a:extLst>
          </p:cNvPr>
          <p:cNvSpPr txBox="1"/>
          <p:nvPr/>
        </p:nvSpPr>
        <p:spPr>
          <a:xfrm>
            <a:off x="198047" y="834041"/>
            <a:ext cx="8678505" cy="417042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1600" b="1" dirty="0"/>
              <a:t> </a:t>
            </a:r>
            <a:r>
              <a:rPr lang="en-US" sz="24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Algorithms and Tools Used</a:t>
            </a:r>
            <a:endParaRPr lang="en-US" sz="1600" spc="-1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</a:rPr>
              <a:t>Custom CNN (From Scratch)Conv2D → ReLU → </a:t>
            </a:r>
            <a:r>
              <a:rPr lang="en-US" sz="2000" spc="-1" dirty="0" err="1">
                <a:solidFill>
                  <a:srgbClr val="000000"/>
                </a:solidFill>
              </a:rPr>
              <a:t>MaxPooling</a:t>
            </a:r>
            <a:r>
              <a:rPr lang="en-US" sz="2000" spc="-1" dirty="0">
                <a:solidFill>
                  <a:srgbClr val="000000"/>
                </a:solidFill>
              </a:rPr>
              <a:t> (x3): Extracts features from the image—edges, shapes, patterns—while reducing size.</a:t>
            </a:r>
          </a:p>
          <a:p>
            <a:pPr marL="285750" indent="-2857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</a:rPr>
              <a:t>Flatten: Converts the 2D feature maps to a 1D vector.</a:t>
            </a:r>
          </a:p>
          <a:p>
            <a:pPr marL="285750" indent="-2857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spc="-1">
                <a:solidFill>
                  <a:srgbClr val="000000"/>
                </a:solidFill>
              </a:rPr>
              <a:t>Dense layer + </a:t>
            </a:r>
            <a:r>
              <a:rPr lang="en-US" sz="2000" spc="-1" dirty="0">
                <a:solidFill>
                  <a:srgbClr val="000000"/>
                </a:solidFill>
              </a:rPr>
              <a:t>Dropout(0.5): Learns complex relationships, Dropout prevents overfitting.</a:t>
            </a:r>
          </a:p>
          <a:p>
            <a:pPr marL="285750" indent="-2857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</a:rPr>
              <a:t>Dense(10, </a:t>
            </a:r>
            <a:r>
              <a:rPr lang="en-US" sz="2000" spc="-1" dirty="0" err="1">
                <a:solidFill>
                  <a:srgbClr val="000000"/>
                </a:solidFill>
              </a:rPr>
              <a:t>softmax</a:t>
            </a:r>
            <a:r>
              <a:rPr lang="en-US" sz="2000" spc="-1" dirty="0">
                <a:solidFill>
                  <a:srgbClr val="000000"/>
                </a:solidFill>
              </a:rPr>
              <a:t>): Outputs probabilities for 10 driver classes. </a:t>
            </a:r>
          </a:p>
          <a:p>
            <a:pPr marL="285750" indent="-2857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</a:rPr>
              <a:t>Simple, good for learning and good accuracy.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spc="-1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sz="1600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r>
              <a:rPr lang="en-US" sz="2400" b="1" spc="-1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2CBD1752-7693-2E14-61F0-E884A788F21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15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6DF6C5BE-BE95-F120-DBC4-FEBE1B4C04E0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4849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BC55F-6292-C8A1-59C9-4E386B486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DDDA4650-FE27-A1B6-2EEC-81573B955CFE}"/>
              </a:ext>
            </a:extLst>
          </p:cNvPr>
          <p:cNvSpPr txBox="1"/>
          <p:nvPr/>
        </p:nvSpPr>
        <p:spPr>
          <a:xfrm>
            <a:off x="392055" y="252476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lang="en-IN" dirty="0"/>
            </a:br>
            <a:r>
              <a:rPr lang="en-US" sz="5900" b="1" spc="-1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itchFamily="18" charset="0"/>
              </a:rPr>
              <a:t>Implementation Details</a:t>
            </a: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AE4A4548-B852-C698-DBAD-7B81D67F234C}"/>
              </a:ext>
            </a:extLst>
          </p:cNvPr>
          <p:cNvSpPr txBox="1"/>
          <p:nvPr/>
        </p:nvSpPr>
        <p:spPr>
          <a:xfrm>
            <a:off x="392055" y="915566"/>
            <a:ext cx="8678505" cy="388843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r>
              <a:rPr lang="en-US" sz="24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Tools Used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IN" sz="2400" b="1" dirty="0"/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b="1" dirty="0"/>
              <a:t>Google </a:t>
            </a:r>
            <a:r>
              <a:rPr lang="en-US" sz="2000" b="1" dirty="0" err="1"/>
              <a:t>Colab</a:t>
            </a:r>
            <a:r>
              <a:rPr lang="en-US" sz="2000" b="1" dirty="0"/>
              <a:t> </a:t>
            </a:r>
            <a:r>
              <a:rPr lang="en-US" sz="2000" dirty="0"/>
              <a:t>– Interactive cloud environment for writing and executing Python code.</a:t>
            </a: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sz="2000" b="1" dirty="0"/>
              <a:t>Libraries</a:t>
            </a:r>
            <a:r>
              <a:rPr lang="en-US" sz="2000" dirty="0"/>
              <a:t> – Pandas, NumPy, TensorFlow, </a:t>
            </a:r>
            <a:r>
              <a:rPr lang="en-US" sz="2000" dirty="0" err="1"/>
              <a:t>Keras</a:t>
            </a:r>
            <a:r>
              <a:rPr lang="en-US" sz="2000" dirty="0"/>
              <a:t>, OpenCV, Matplotlib, and Scikit-learn for data handling, modeling, visualization, and evaluation, </a:t>
            </a:r>
            <a:r>
              <a:rPr lang="en-US" sz="2000"/>
              <a:t>Shutil. </a:t>
            </a:r>
            <a:endParaRPr lang="en-US" sz="2000" b="1" spc="-1" dirty="0"/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sz="2400" b="1" spc="-1" dirty="0"/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400" b="1" spc="-1" dirty="0"/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sz="2400" spc="-1" dirty="0">
              <a:solidFill>
                <a:srgbClr val="000000"/>
              </a:solidFill>
            </a:endParaRP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r>
              <a:rPr lang="en-US" sz="2400" b="1" spc="-1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93A50B78-746E-62BB-ECDE-E91FBB742DA4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16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7C45EBF7-A347-72BC-3BEE-243F67BE4D8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8296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D7E87-5C14-7231-5F04-ADF230E3C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DF7C3022-BC63-479E-178C-7A91B4DAE20F}"/>
              </a:ext>
            </a:extLst>
          </p:cNvPr>
          <p:cNvSpPr txBox="1"/>
          <p:nvPr/>
        </p:nvSpPr>
        <p:spPr>
          <a:xfrm>
            <a:off x="323230" y="457783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Results and Analysis</a:t>
            </a:r>
          </a:p>
          <a:p>
            <a:br>
              <a:rPr lang="en-IN" dirty="0"/>
            </a:b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3C35062F-0A3D-34D9-7EA3-63407C98D74C}"/>
              </a:ext>
            </a:extLst>
          </p:cNvPr>
          <p:cNvSpPr txBox="1"/>
          <p:nvPr/>
        </p:nvSpPr>
        <p:spPr>
          <a:xfrm>
            <a:off x="323231" y="915566"/>
            <a:ext cx="8786686" cy="417042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Test Results </a:t>
            </a:r>
            <a:r>
              <a:rPr lang="en-US" dirty="0"/>
              <a:t>– Graphs of Images per class and Drivers.</a:t>
            </a:r>
          </a:p>
          <a:p>
            <a:pPr>
              <a:buClr>
                <a:srgbClr val="00B0F0"/>
              </a:buClr>
            </a:pPr>
            <a:endParaRPr lang="en-US" dirty="0"/>
          </a:p>
          <a:p>
            <a:pPr>
              <a:buClr>
                <a:srgbClr val="00B0F0"/>
              </a:buClr>
            </a:pPr>
            <a:endParaRPr lang="en-US" dirty="0"/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/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400" b="1" spc="-1" dirty="0"/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sz="2400" spc="-1" dirty="0">
              <a:solidFill>
                <a:srgbClr val="000000"/>
              </a:solidFill>
            </a:endParaRP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r>
              <a:rPr lang="en-US" sz="1400" b="1" spc="-1" dirty="0">
                <a:solidFill>
                  <a:srgbClr val="000000"/>
                </a:solidFill>
              </a:rPr>
              <a:t>              Fig 1 : Number Of images                                          Fig 2 : Number Of Images per Drivers </a:t>
            </a: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r>
              <a:rPr lang="en-US" sz="2400" b="1" spc="-1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EDF8D00A-BCC2-1B7E-82AB-CCA4FF6100A8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17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752312D4-4858-AEE5-CEF3-194F7999E5B1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70543E-C008-338E-ECF2-D5009493FC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09" y="1226137"/>
            <a:ext cx="4059159" cy="34533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4FA611-CC5C-F464-6767-87453EFF65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088" y="1284111"/>
            <a:ext cx="4624150" cy="33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17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ECCEC-B89B-6025-326A-17146724F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E9F817F9-D2B3-F992-DE66-FFCC805D082A}"/>
              </a:ext>
            </a:extLst>
          </p:cNvPr>
          <p:cNvSpPr txBox="1"/>
          <p:nvPr/>
        </p:nvSpPr>
        <p:spPr>
          <a:xfrm>
            <a:off x="323230" y="339502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Results and Analysis </a:t>
            </a:r>
            <a:r>
              <a:rPr lang="en-US" sz="11200" b="1" spc="-1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Contd</a:t>
            </a:r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…</a:t>
            </a:r>
          </a:p>
          <a:p>
            <a:br>
              <a:rPr lang="en-IN" dirty="0"/>
            </a:b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56C7C3B9-A1F6-A4AA-3BA7-79C124C9D29D}"/>
              </a:ext>
            </a:extLst>
          </p:cNvPr>
          <p:cNvSpPr txBox="1"/>
          <p:nvPr/>
        </p:nvSpPr>
        <p:spPr>
          <a:xfrm>
            <a:off x="179513" y="915566"/>
            <a:ext cx="8930404" cy="42279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Test Results- </a:t>
            </a:r>
            <a:r>
              <a:rPr lang="en-US" b="1" spc="-1" dirty="0"/>
              <a:t>Real time Detections </a:t>
            </a:r>
          </a:p>
          <a:p>
            <a:pPr>
              <a:buClr>
                <a:srgbClr val="00B0F0"/>
              </a:buClr>
            </a:pPr>
            <a:r>
              <a:rPr lang="en-US" sz="2400" b="1" spc="-1" dirty="0"/>
              <a:t> </a:t>
            </a:r>
          </a:p>
          <a:p>
            <a:pPr>
              <a:buClr>
                <a:srgbClr val="00B0F0"/>
              </a:buClr>
            </a:pPr>
            <a:endParaRPr lang="en-US" sz="2400" b="1" spc="-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00B0F0"/>
              </a:buClr>
            </a:pPr>
            <a:endParaRPr lang="en-US" sz="2400" b="1" spc="-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00B0F0"/>
              </a:buClr>
            </a:pPr>
            <a:endParaRPr lang="en-US" sz="2400" b="1" spc="-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00B0F0"/>
              </a:buClr>
            </a:pPr>
            <a:endParaRPr lang="en-US" sz="2400" b="1" spc="-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00B0F0"/>
              </a:buClr>
            </a:pPr>
            <a:endParaRPr lang="en-US" sz="2400" b="1" spc="-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00B0F0"/>
              </a:buClr>
            </a:pPr>
            <a:endParaRPr lang="en-US" sz="2400" b="1" spc="-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00B0F0"/>
              </a:buClr>
            </a:pPr>
            <a:endParaRPr lang="en-US" sz="2400" b="1" spc="-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00B0F0"/>
              </a:buClr>
            </a:pPr>
            <a:endParaRPr lang="en-US" sz="2400" b="1" spc="-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00B0F0"/>
              </a:buClr>
            </a:pPr>
            <a:r>
              <a:rPr lang="en-US" sz="1200" b="1" spc="-1" dirty="0"/>
              <a:t>   </a:t>
            </a:r>
            <a:r>
              <a:rPr lang="en-US" sz="1400" b="1" spc="-1" dirty="0"/>
              <a:t>Fig 3 : Talking to passenger              Fig 4: Talking on phone – left                  Fig 5: texting Right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526D1610-0672-151B-37D1-F8EBA0CC3721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18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9FEC9AF3-6F27-E06A-3CCE-4CC5285635ED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86A305-BBE0-CEE5-3750-AA5F752EBE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13" y="1635646"/>
            <a:ext cx="2880618" cy="25922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358F9A-6E44-E5C9-E586-54E1A2883F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306" y="1635646"/>
            <a:ext cx="2673387" cy="25922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F5B2BE-9DD6-8FA3-227A-E5E54E8F9A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163" y="1635646"/>
            <a:ext cx="2642283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41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0FA68-D027-1CA4-2B37-A1D0D443E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9F1085D4-66DB-D540-40D2-A0F859F13EBB}"/>
              </a:ext>
            </a:extLst>
          </p:cNvPr>
          <p:cNvSpPr txBox="1"/>
          <p:nvPr/>
        </p:nvSpPr>
        <p:spPr>
          <a:xfrm>
            <a:off x="323230" y="339502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Results and Analysis</a:t>
            </a:r>
          </a:p>
          <a:p>
            <a:br>
              <a:rPr lang="en-IN" dirty="0"/>
            </a:b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FFB4ECC3-BED1-7FD2-A6A4-4291DA3267B5}"/>
              </a:ext>
            </a:extLst>
          </p:cNvPr>
          <p:cNvSpPr txBox="1"/>
          <p:nvPr/>
        </p:nvSpPr>
        <p:spPr>
          <a:xfrm>
            <a:off x="73440" y="771550"/>
            <a:ext cx="8997119" cy="426663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Test Results- </a:t>
            </a:r>
            <a:r>
              <a:rPr lang="en-US" b="1" spc="-1" dirty="0"/>
              <a:t>Real time Detections</a:t>
            </a:r>
          </a:p>
          <a:p>
            <a:pPr>
              <a:buClr>
                <a:srgbClr val="00B0F0"/>
              </a:buClr>
            </a:pPr>
            <a:r>
              <a:rPr lang="en-US" sz="2400" b="1" spc="-1" dirty="0"/>
              <a:t> </a:t>
            </a:r>
          </a:p>
          <a:p>
            <a:pPr>
              <a:buClr>
                <a:srgbClr val="00B0F0"/>
              </a:buClr>
            </a:pPr>
            <a:endParaRPr lang="en-US" sz="2400" b="1" spc="-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00B0F0"/>
              </a:buClr>
            </a:pPr>
            <a:endParaRPr lang="en-US" sz="2400" b="1" spc="-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00B0F0"/>
              </a:buClr>
            </a:pPr>
            <a:endParaRPr lang="en-US" sz="2400" b="1" spc="-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00B0F0"/>
              </a:buClr>
            </a:pPr>
            <a:endParaRPr lang="en-US" sz="2400" b="1" spc="-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00B0F0"/>
              </a:buClr>
            </a:pPr>
            <a:endParaRPr lang="en-US" sz="2400" b="1" spc="-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00B0F0"/>
              </a:buClr>
            </a:pPr>
            <a:endParaRPr lang="en-US" sz="2400" b="1" spc="-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00B0F0"/>
              </a:buClr>
            </a:pPr>
            <a:endParaRPr lang="en-US" sz="1400" b="1" spc="-1" dirty="0"/>
          </a:p>
          <a:p>
            <a:pPr>
              <a:buClr>
                <a:srgbClr val="00B0F0"/>
              </a:buClr>
            </a:pPr>
            <a:endParaRPr lang="en-US" sz="1400" b="1" spc="-1" dirty="0"/>
          </a:p>
          <a:p>
            <a:pPr>
              <a:buClr>
                <a:srgbClr val="00B0F0"/>
              </a:buClr>
            </a:pPr>
            <a:endParaRPr lang="en-US" sz="1400" b="1" spc="-1" dirty="0"/>
          </a:p>
          <a:p>
            <a:pPr>
              <a:buClr>
                <a:srgbClr val="00B0F0"/>
              </a:buClr>
            </a:pPr>
            <a:endParaRPr lang="en-US" sz="1400" b="1" spc="-1" dirty="0"/>
          </a:p>
          <a:p>
            <a:pPr>
              <a:buClr>
                <a:srgbClr val="00B0F0"/>
              </a:buClr>
            </a:pPr>
            <a:r>
              <a:rPr lang="en-US" sz="1400" b="1" spc="-1" dirty="0"/>
              <a:t>   Fig 6: Hair &amp; makeup           Fig 7: Safe Driving         Fig 8: Reaching Behind      Fig 9: Driver Distracted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1CCBC5B3-E7D9-8B8C-1FB0-30CCA4CE2FDC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19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DCB6C59A-3E92-3991-7175-0B17D66E061E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0DA157-1FE3-A29A-00E8-768C48A067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14" y="1699608"/>
            <a:ext cx="2095429" cy="24105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0D4996-BA46-8FA1-2E19-1419D5EB50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050" y="1699608"/>
            <a:ext cx="2061368" cy="2405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52CCDB-3433-5A63-75FE-97088EBD39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1699608"/>
            <a:ext cx="1957316" cy="24050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AED393-E34E-8091-18BC-7EA8616948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619" y="1699608"/>
            <a:ext cx="2388636" cy="240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729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CF13C-74ED-4EA4-FA1C-4AC965578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E8AA64F5-7EBF-8AF6-3E61-3F245472CCA7}"/>
              </a:ext>
            </a:extLst>
          </p:cNvPr>
          <p:cNvSpPr txBox="1"/>
          <p:nvPr/>
        </p:nvSpPr>
        <p:spPr>
          <a:xfrm>
            <a:off x="323230" y="414212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Results and Analysis </a:t>
            </a:r>
          </a:p>
          <a:p>
            <a:br>
              <a:rPr lang="en-IN" dirty="0"/>
            </a:b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A6A411D-999B-47AB-0589-94534E4EFD3D}"/>
              </a:ext>
            </a:extLst>
          </p:cNvPr>
          <p:cNvSpPr txBox="1"/>
          <p:nvPr/>
        </p:nvSpPr>
        <p:spPr>
          <a:xfrm>
            <a:off x="258747" y="915566"/>
            <a:ext cx="8851170" cy="42279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b="1" spc="-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Test Result – </a:t>
            </a:r>
            <a:r>
              <a:rPr lang="en-US" b="1" spc="-1" dirty="0">
                <a:latin typeface="+mj-lt"/>
              </a:rPr>
              <a:t>Model with Hyperparameter Tuning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q"/>
            </a:pPr>
            <a:endParaRPr lang="en-US" sz="1600" dirty="0"/>
          </a:p>
          <a:p>
            <a:pPr>
              <a:buClr>
                <a:srgbClr val="00B0F0"/>
              </a:buClr>
            </a:pP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/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400" b="1" spc="-1" dirty="0"/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sz="2400" spc="-1" dirty="0">
              <a:solidFill>
                <a:srgbClr val="000000"/>
              </a:solidFill>
            </a:endParaRP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r>
              <a:rPr lang="en-US" sz="2400" b="1" spc="-1" dirty="0">
                <a:solidFill>
                  <a:srgbClr val="000000"/>
                </a:solidFill>
              </a:rPr>
              <a:t>       </a:t>
            </a:r>
            <a:r>
              <a:rPr lang="en-US" sz="1400" b="1" spc="-1" dirty="0">
                <a:solidFill>
                  <a:srgbClr val="000000"/>
                </a:solidFill>
              </a:rPr>
              <a:t>Fig 10:  Classification of Model                                     Fig 11: Summary values obtained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53B67F47-203D-5A94-E9B5-D5F4B545E192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20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65400F7B-8BFE-8E26-7172-D5219BE5FA4E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94973B-B11B-FCEA-2D60-9EFCBB788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697" y="1530880"/>
            <a:ext cx="3753688" cy="29973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613F0C-613D-488A-DC07-FA4E9F69CB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67" y="1530881"/>
            <a:ext cx="3857645" cy="299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35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1DC8B-1D57-0AE5-BB06-5DBE7CF3B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856E32A6-2F83-131A-5BE8-818BEA8884F8}"/>
              </a:ext>
            </a:extLst>
          </p:cNvPr>
          <p:cNvSpPr txBox="1"/>
          <p:nvPr/>
        </p:nvSpPr>
        <p:spPr>
          <a:xfrm>
            <a:off x="323230" y="457783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Results and Analysis </a:t>
            </a:r>
            <a:r>
              <a:rPr lang="en-US" sz="11200" b="1" spc="-1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Contd</a:t>
            </a:r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…</a:t>
            </a:r>
          </a:p>
          <a:p>
            <a:br>
              <a:rPr lang="en-IN" dirty="0"/>
            </a:b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9936FE3-F076-2E63-3F6A-9314E8491E3C}"/>
              </a:ext>
            </a:extLst>
          </p:cNvPr>
          <p:cNvSpPr txBox="1"/>
          <p:nvPr/>
        </p:nvSpPr>
        <p:spPr>
          <a:xfrm>
            <a:off x="179513" y="915566"/>
            <a:ext cx="8891047" cy="417042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16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Test Results </a:t>
            </a:r>
            <a:r>
              <a:rPr lang="en-US" sz="1600" b="1" spc="-1" dirty="0">
                <a:solidFill>
                  <a:srgbClr val="000000"/>
                </a:solidFill>
              </a:rPr>
              <a:t>– Evaluating the model with hyperparameter tuning.</a:t>
            </a: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r>
              <a:rPr lang="en-US" sz="1600" b="1" spc="-1" dirty="0">
                <a:solidFill>
                  <a:srgbClr val="000000"/>
                </a:solidFill>
              </a:rPr>
              <a:t>        Fig 12 : Training &amp; Validation Loss                Fig 13: Training &amp; validation Accuracy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45458190-C21A-6A2C-ED6B-8A9544C02981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21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848119A4-40A8-1488-8CDF-40FF3337B7FB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08F5A0-7E89-98AF-0217-5EF318F02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99" y="1366897"/>
            <a:ext cx="8290489" cy="308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42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9D8DB-E6CE-A3C8-091A-D0D26DC9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E0DA1700-47A9-9478-ED9A-3AEE08EFFD87}"/>
              </a:ext>
            </a:extLst>
          </p:cNvPr>
          <p:cNvSpPr txBox="1"/>
          <p:nvPr/>
        </p:nvSpPr>
        <p:spPr>
          <a:xfrm>
            <a:off x="323230" y="457783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Results and Analysis </a:t>
            </a:r>
            <a:r>
              <a:rPr lang="en-US" sz="11200" b="1" spc="-1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Contd</a:t>
            </a:r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…</a:t>
            </a:r>
          </a:p>
          <a:p>
            <a:br>
              <a:rPr lang="en-IN" dirty="0"/>
            </a:b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580AEA4D-BAFE-35FD-DC74-FA9C93B540E4}"/>
              </a:ext>
            </a:extLst>
          </p:cNvPr>
          <p:cNvSpPr txBox="1"/>
          <p:nvPr/>
        </p:nvSpPr>
        <p:spPr>
          <a:xfrm>
            <a:off x="431411" y="915566"/>
            <a:ext cx="8678505" cy="424847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16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Test Results </a:t>
            </a:r>
            <a:r>
              <a:rPr lang="en-US" sz="1600" b="1" spc="-1" dirty="0">
                <a:solidFill>
                  <a:srgbClr val="000000"/>
                </a:solidFill>
              </a:rPr>
              <a:t>– Confusion matrix  for model with hyperparameter tuning</a:t>
            </a: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r>
              <a:rPr lang="en-US" sz="1600" b="1" spc="-1" dirty="0">
                <a:solidFill>
                  <a:srgbClr val="000000"/>
                </a:solidFill>
              </a:rPr>
              <a:t>            Fig 14: Confusion Matrix                        Fig 15: Normalized Confusion Matrix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326293E4-2FF0-BB4F-40E6-46E75D359032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22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70A4879C-3A10-2275-EB57-CA1C79A5C50D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46E276-D10F-D676-29EF-8EBC9E24C5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314763"/>
            <a:ext cx="3960738" cy="34758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2B9D26-A226-6E3F-4735-AA389C7AD8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44" y="1269308"/>
            <a:ext cx="4035555" cy="356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52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01AC7-5CA6-D714-885B-4DFBDC972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8E1E8A10-54D1-0676-D190-DC0DAC1B751A}"/>
              </a:ext>
            </a:extLst>
          </p:cNvPr>
          <p:cNvSpPr txBox="1"/>
          <p:nvPr/>
        </p:nvSpPr>
        <p:spPr>
          <a:xfrm>
            <a:off x="323230" y="457783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Results and Analysis </a:t>
            </a:r>
            <a:r>
              <a:rPr lang="en-US" sz="11200" b="1" spc="-1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Contd</a:t>
            </a:r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…</a:t>
            </a:r>
          </a:p>
          <a:p>
            <a:br>
              <a:rPr lang="en-IN" dirty="0"/>
            </a:b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A324E00D-7D9A-2315-40BE-BD17DF27A5EB}"/>
              </a:ext>
            </a:extLst>
          </p:cNvPr>
          <p:cNvSpPr txBox="1"/>
          <p:nvPr/>
        </p:nvSpPr>
        <p:spPr>
          <a:xfrm>
            <a:off x="179513" y="915566"/>
            <a:ext cx="8930404" cy="424847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16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Test Results </a:t>
            </a:r>
            <a:r>
              <a:rPr lang="en-US" sz="1600" b="1" spc="-1" dirty="0">
                <a:solidFill>
                  <a:srgbClr val="000000"/>
                </a:solidFill>
              </a:rPr>
              <a:t>– Fine-Tuned Model</a:t>
            </a: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r>
              <a:rPr lang="en-US" sz="1600" b="1" spc="-1" dirty="0">
                <a:solidFill>
                  <a:srgbClr val="000000"/>
                </a:solidFill>
              </a:rPr>
              <a:t>       Fig 16: Classification of Model                              Fig 17: Summary values obtained</a:t>
            </a:r>
            <a:endParaRPr lang="en-US" sz="1400" b="1" spc="-1" dirty="0">
              <a:solidFill>
                <a:srgbClr val="000000"/>
              </a:solidFill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0A7B346F-040E-6CE9-B6DA-0624A79BD374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23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CE61FB5C-4792-2DA7-960A-2E63DBA17C88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EC3EDC-16EB-0925-81C7-402178208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762" y="1373349"/>
            <a:ext cx="3906974" cy="30826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676AD4B-7F8F-9D17-A79A-6D21CE5098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97285"/>
            <a:ext cx="3753688" cy="305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14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519DA-1365-051D-4C2C-0612CB6C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8711AB0F-FCA8-CF3E-8E9E-3E2C162B12C4}"/>
              </a:ext>
            </a:extLst>
          </p:cNvPr>
          <p:cNvSpPr txBox="1"/>
          <p:nvPr/>
        </p:nvSpPr>
        <p:spPr>
          <a:xfrm>
            <a:off x="323230" y="457783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Results and Analysis </a:t>
            </a:r>
            <a:r>
              <a:rPr lang="en-US" sz="11200" b="1" spc="-1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Contd</a:t>
            </a:r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…</a:t>
            </a:r>
          </a:p>
          <a:p>
            <a:br>
              <a:rPr lang="en-IN" dirty="0"/>
            </a:b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405DE3E1-C6FD-2120-1308-42DEEDDBE4FE}"/>
              </a:ext>
            </a:extLst>
          </p:cNvPr>
          <p:cNvSpPr txBox="1"/>
          <p:nvPr/>
        </p:nvSpPr>
        <p:spPr>
          <a:xfrm>
            <a:off x="431411" y="915566"/>
            <a:ext cx="8678505" cy="424847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16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Test Results </a:t>
            </a:r>
            <a:r>
              <a:rPr lang="en-US" sz="1600" b="1" spc="-1" dirty="0">
                <a:solidFill>
                  <a:srgbClr val="000000"/>
                </a:solidFill>
              </a:rPr>
              <a:t>– Evaluating Fine-Tuned Model </a:t>
            </a: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r>
              <a:rPr lang="en-US" sz="1600" b="1" spc="-1" dirty="0">
                <a:solidFill>
                  <a:srgbClr val="000000"/>
                </a:solidFill>
              </a:rPr>
              <a:t>     Fig 18: Training and </a:t>
            </a:r>
            <a:r>
              <a:rPr lang="en-US" sz="1600" b="1" spc="-1" dirty="0" err="1">
                <a:solidFill>
                  <a:srgbClr val="000000"/>
                </a:solidFill>
              </a:rPr>
              <a:t>validaton</a:t>
            </a:r>
            <a:r>
              <a:rPr lang="en-US" sz="1600" b="1" spc="-1" dirty="0">
                <a:solidFill>
                  <a:srgbClr val="000000"/>
                </a:solidFill>
              </a:rPr>
              <a:t>  loss            Fig 19: Training and validation accuracy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E38C4D6C-40D5-BE65-6027-CACB8BCC08A0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24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1B2FD74E-3412-65F4-9E1D-12115DECBA46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D0385F-A463-B1B2-C00C-FC38D9417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98" y="1340787"/>
            <a:ext cx="8290490" cy="315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47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68CB5-C2A5-2DF7-39AF-5F93631C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D0342225-306F-F6F6-CFAE-D6CEB931127B}"/>
              </a:ext>
            </a:extLst>
          </p:cNvPr>
          <p:cNvSpPr txBox="1"/>
          <p:nvPr/>
        </p:nvSpPr>
        <p:spPr>
          <a:xfrm>
            <a:off x="323230" y="457783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Results and Analysis </a:t>
            </a:r>
            <a:r>
              <a:rPr lang="en-US" sz="11200" b="1" spc="-1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Contd</a:t>
            </a:r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…</a:t>
            </a:r>
          </a:p>
          <a:p>
            <a:br>
              <a:rPr lang="en-IN" dirty="0"/>
            </a:b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E01DCBF1-829B-138B-E1B6-8C2D16B7D2B4}"/>
              </a:ext>
            </a:extLst>
          </p:cNvPr>
          <p:cNvSpPr txBox="1"/>
          <p:nvPr/>
        </p:nvSpPr>
        <p:spPr>
          <a:xfrm>
            <a:off x="431411" y="915566"/>
            <a:ext cx="8678505" cy="424847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1600" b="1" spc="-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Test Results </a:t>
            </a:r>
            <a:r>
              <a:rPr lang="en-US" sz="1600" b="1" spc="-1" dirty="0">
                <a:solidFill>
                  <a:srgbClr val="000000"/>
                </a:solidFill>
              </a:rPr>
              <a:t>– Confusion matrix  for  Fine-Tuned Model</a:t>
            </a: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endParaRPr lang="en-US" sz="1600" b="1" spc="-1" dirty="0">
              <a:solidFill>
                <a:srgbClr val="000000"/>
              </a:solidFill>
            </a:endParaRPr>
          </a:p>
          <a:p>
            <a:pPr>
              <a:buClr>
                <a:srgbClr val="00B0F0"/>
              </a:buClr>
            </a:pPr>
            <a:r>
              <a:rPr lang="en-US" sz="1600" b="1" spc="-1" dirty="0">
                <a:solidFill>
                  <a:srgbClr val="000000"/>
                </a:solidFill>
              </a:rPr>
              <a:t>            Fig 20: Confusion Matrix                        Fig 21 : Normalized Confusion Matrix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8DF83B72-0540-7944-BA38-74814CE2681D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25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39C521E2-E8AA-10A3-958F-F5FCDB77D4C8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246F56-F50A-A77A-7CF8-BCC7E7CA6B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663" y="1240891"/>
            <a:ext cx="4590283" cy="3410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3FB943-6784-2C36-6373-75E3009644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74" y="1240890"/>
            <a:ext cx="4005608" cy="348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575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2F45A-D0C4-904A-B0FC-03CA2FFE4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218C5817-7B15-66D2-EC71-51B3433E4543}"/>
              </a:ext>
            </a:extLst>
          </p:cNvPr>
          <p:cNvSpPr txBox="1"/>
          <p:nvPr/>
        </p:nvSpPr>
        <p:spPr>
          <a:xfrm>
            <a:off x="323230" y="457783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Results and Analysis </a:t>
            </a:r>
            <a:r>
              <a:rPr lang="en-US" sz="11200" b="1" spc="-1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Contd</a:t>
            </a:r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…</a:t>
            </a:r>
          </a:p>
          <a:p>
            <a:br>
              <a:rPr lang="en-IN" dirty="0"/>
            </a:b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92589E07-FF3C-9522-D088-D61831D9C8FD}"/>
              </a:ext>
            </a:extLst>
          </p:cNvPr>
          <p:cNvSpPr txBox="1"/>
          <p:nvPr/>
        </p:nvSpPr>
        <p:spPr>
          <a:xfrm>
            <a:off x="73441" y="915566"/>
            <a:ext cx="9036476" cy="42279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Test Results </a:t>
            </a:r>
            <a:r>
              <a:rPr lang="en-US" dirty="0"/>
              <a:t>–  </a:t>
            </a:r>
            <a:r>
              <a:rPr lang="en-US" b="1" dirty="0"/>
              <a:t>Comparison of all Model Accuracy</a:t>
            </a:r>
          </a:p>
          <a:p>
            <a:pPr>
              <a:buClr>
                <a:srgbClr val="00B0F0"/>
              </a:buClr>
            </a:pPr>
            <a:endParaRPr lang="en-US" dirty="0"/>
          </a:p>
          <a:p>
            <a:pPr>
              <a:buClr>
                <a:srgbClr val="00B0F0"/>
              </a:buClr>
            </a:pPr>
            <a:endParaRPr lang="en-US" dirty="0"/>
          </a:p>
          <a:p>
            <a:pPr>
              <a:buClr>
                <a:srgbClr val="00B0F0"/>
              </a:buClr>
            </a:pPr>
            <a:endParaRPr lang="en-US" dirty="0"/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1600" b="1" spc="-1" dirty="0"/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400" b="1" spc="-1" dirty="0"/>
          </a:p>
          <a:p>
            <a:pPr marL="34290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sz="2400" spc="-1" dirty="0">
              <a:solidFill>
                <a:srgbClr val="000000"/>
              </a:solidFill>
            </a:endParaRPr>
          </a:p>
          <a:p>
            <a:pPr marL="288540" indent="-34290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endParaRPr lang="en-US" sz="24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sz="2400" b="1" spc="-1" dirty="0">
              <a:solidFill>
                <a:srgbClr val="000000"/>
              </a:solidFill>
            </a:endParaRPr>
          </a:p>
          <a:p>
            <a:pPr>
              <a:spcBef>
                <a:spcPts val="550"/>
              </a:spcBef>
              <a:buClr>
                <a:srgbClr val="3891A7"/>
              </a:buClr>
            </a:pPr>
            <a:r>
              <a:rPr lang="en-US" sz="1600" b="1" spc="-1" dirty="0">
                <a:solidFill>
                  <a:srgbClr val="000000"/>
                </a:solidFill>
              </a:rPr>
              <a:t>                                                       Fig 22: Accuracy of Models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r>
              <a:rPr lang="en-US" sz="2400" b="1" spc="-1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F3423D1E-FC38-1BBA-531E-DCB0F98CAAD2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26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9A8DC289-C26D-40BB-6DE1-7C07D6DBA872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B6A7DD-26AE-90DD-E6F9-3C18C5D13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66" y="1373349"/>
            <a:ext cx="7993186" cy="318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415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BC827-43D6-F9C1-DA9C-9B8B7BA40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5326B6A1-1ACC-FE86-244E-C9CF01065B1A}"/>
              </a:ext>
            </a:extLst>
          </p:cNvPr>
          <p:cNvSpPr txBox="1"/>
          <p:nvPr/>
        </p:nvSpPr>
        <p:spPr>
          <a:xfrm>
            <a:off x="323230" y="457783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r>
              <a:rPr lang="en-US" sz="112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Conclusion and Future Work</a:t>
            </a:r>
          </a:p>
          <a:p>
            <a:br>
              <a:rPr lang="en-IN" dirty="0"/>
            </a:br>
            <a:b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BFC1F43-048B-08F9-5341-F183E04CB72C}"/>
              </a:ext>
            </a:extLst>
          </p:cNvPr>
          <p:cNvSpPr txBox="1"/>
          <p:nvPr/>
        </p:nvSpPr>
        <p:spPr>
          <a:xfrm>
            <a:off x="431411" y="915566"/>
            <a:ext cx="8678505" cy="417042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dirty="0"/>
              <a:t>Developing a </a:t>
            </a:r>
            <a:r>
              <a:rPr lang="en-US" b="1" dirty="0"/>
              <a:t>real-time distracted driver detection system</a:t>
            </a:r>
            <a:r>
              <a:rPr lang="en-US" dirty="0"/>
              <a:t> using </a:t>
            </a:r>
            <a:r>
              <a:rPr lang="en-US" b="1" dirty="0"/>
              <a:t>deep learning and computer vision</a:t>
            </a:r>
            <a:r>
              <a:rPr lang="en-US" dirty="0"/>
              <a:t> to enhance road safety.</a:t>
            </a:r>
          </a:p>
          <a:p>
            <a:pPr marL="285750" indent="-2857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dirty="0"/>
              <a:t>Addressing the </a:t>
            </a:r>
            <a:r>
              <a:rPr lang="en-US" b="1" dirty="0"/>
              <a:t>growing risks of distracted driving</a:t>
            </a:r>
            <a:r>
              <a:rPr lang="en-US" dirty="0"/>
              <a:t> by providing an automated and accurate detection system.</a:t>
            </a:r>
          </a:p>
          <a:p>
            <a:pPr marL="285750" indent="-2857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dirty="0"/>
              <a:t>Convolutional Neural Networks </a:t>
            </a:r>
            <a:r>
              <a:rPr lang="en-US" b="1" dirty="0"/>
              <a:t>(CNNs), </a:t>
            </a:r>
            <a:r>
              <a:rPr lang="en-US" dirty="0"/>
              <a:t>TensorFlow/</a:t>
            </a:r>
            <a:r>
              <a:rPr lang="en-US" dirty="0" err="1"/>
              <a:t>Keras</a:t>
            </a:r>
            <a:r>
              <a:rPr lang="en-US" dirty="0"/>
              <a:t>, OpenCV, and </a:t>
            </a:r>
            <a:r>
              <a:rPr lang="en-US" b="1" dirty="0"/>
              <a:t>State Farm Distracted Driver Detection dataset</a:t>
            </a:r>
            <a:r>
              <a:rPr lang="en-US" dirty="0"/>
              <a:t> for training.</a:t>
            </a:r>
          </a:p>
          <a:p>
            <a:pPr>
              <a:spcBef>
                <a:spcPts val="550"/>
              </a:spcBef>
              <a:buClr>
                <a:srgbClr val="3891A7"/>
              </a:buClr>
            </a:pPr>
            <a:endParaRPr lang="en-US" dirty="0"/>
          </a:p>
          <a:p>
            <a:pPr marL="285750" indent="-2857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q"/>
            </a:pPr>
            <a:r>
              <a:rPr lang="en-US" sz="1800" b="1" spc="-1" dirty="0">
                <a:solidFill>
                  <a:srgbClr val="000000"/>
                </a:solidFill>
                <a:latin typeface="Gill Sans MT"/>
              </a:rPr>
              <a:t>Scope for Improvement</a:t>
            </a:r>
          </a:p>
          <a:p>
            <a:pPr marL="285750" indent="-2857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IN" dirty="0"/>
              <a:t>Grad Cam++</a:t>
            </a:r>
            <a:r>
              <a:rPr lang="en-IN" b="1" dirty="0"/>
              <a:t> </a:t>
            </a:r>
            <a:r>
              <a:rPr lang="en-IN" dirty="0"/>
              <a:t>can be implemented for heat mapping areas.</a:t>
            </a:r>
          </a:p>
          <a:p>
            <a:pPr marL="285750" indent="-2857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IN" dirty="0" err="1"/>
              <a:t>MultiCam</a:t>
            </a:r>
            <a:r>
              <a:rPr lang="en-IN" dirty="0"/>
              <a:t> </a:t>
            </a:r>
            <a:r>
              <a:rPr lang="en-IN" dirty="0" err="1"/>
              <a:t>functionalty</a:t>
            </a:r>
            <a:r>
              <a:rPr lang="en-IN" dirty="0"/>
              <a:t> can be implemented.</a:t>
            </a:r>
            <a:endParaRPr lang="en-US" dirty="0"/>
          </a:p>
          <a:p>
            <a:pPr marL="285750" indent="-2857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r>
              <a:rPr lang="en-US" dirty="0"/>
              <a:t>Can be integrated into </a:t>
            </a:r>
            <a:r>
              <a:rPr lang="en-US" b="1" dirty="0"/>
              <a:t>smart vehicles and driver assistance systems</a:t>
            </a:r>
            <a:r>
              <a:rPr lang="en-US" dirty="0"/>
              <a:t> for proactive safety measures.</a:t>
            </a:r>
            <a:endParaRPr lang="en-US" b="1" dirty="0"/>
          </a:p>
          <a:p>
            <a:pPr marL="285750" indent="-2857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spcBef>
                <a:spcPts val="550"/>
              </a:spcBef>
              <a:buClr>
                <a:srgbClr val="3891A7"/>
              </a:buCl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37295B90-3522-0CA1-1C87-BEADAC4F160E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27</a:t>
            </a:fld>
            <a:endParaRPr lang="en-IN" sz="1200" b="0" strike="noStrike" spc="-1" dirty="0">
              <a:latin typeface="Times New Roman"/>
            </a:endParaRPr>
          </a:p>
        </p:txBody>
      </p:sp>
      <p:pic>
        <p:nvPicPr>
          <p:cNvPr id="112" name="Picture 2">
            <a:extLst>
              <a:ext uri="{FF2B5EF4-FFF2-40B4-BE49-F238E27FC236}">
                <a16:creationId xmlns:a16="http://schemas.microsoft.com/office/drawing/2014/main" id="{749E8AD2-97FC-D151-763E-C7C9122778C0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715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9502"/>
            <a:ext cx="8433366" cy="553998"/>
          </a:xfrm>
        </p:spPr>
        <p:txBody>
          <a:bodyPr/>
          <a:lstStyle/>
          <a:p>
            <a:r>
              <a:rPr lang="en-IN" b="1" spc="-1" dirty="0">
                <a:solidFill>
                  <a:srgbClr val="572314"/>
                </a:solidFill>
                <a:ea typeface="+mn-ea"/>
                <a:cs typeface="Times New Roman" pitchFamily="18" charset="0"/>
              </a:rPr>
              <a:t>Bibliography </a:t>
            </a:r>
            <a:endParaRPr lang="en-US" b="1" spc="-1" dirty="0">
              <a:solidFill>
                <a:srgbClr val="572314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297499" y="874636"/>
            <a:ext cx="8370716" cy="4155926"/>
          </a:xfrm>
        </p:spPr>
        <p:txBody>
          <a:bodyPr/>
          <a:lstStyle/>
          <a:p>
            <a:pPr marL="495300" indent="-342900">
              <a:lnSpc>
                <a:spcPct val="107000"/>
              </a:lnSpc>
              <a:spcAft>
                <a:spcPts val="800"/>
              </a:spcAft>
              <a:buClr>
                <a:srgbClr val="00B0F0"/>
              </a:buClr>
              <a:buFont typeface="+mj-lt"/>
              <a:buAutoNum type="arabicPeriod"/>
            </a:pPr>
            <a:r>
              <a:rPr lang="en-IN" sz="1600" kern="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Shahverdy</a:t>
            </a:r>
            <a:r>
              <a:rPr lang="en-IN" sz="1600" kern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Mohammad &amp; Fathy, Mahmood &amp; </a:t>
            </a:r>
            <a:r>
              <a:rPr lang="en-IN" sz="1600" kern="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Berangi</a:t>
            </a:r>
            <a:r>
              <a:rPr lang="en-IN" sz="1600" kern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Reza &amp; </a:t>
            </a:r>
            <a:r>
              <a:rPr lang="en-IN" sz="1600" kern="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Sabokrou</a:t>
            </a:r>
            <a:r>
              <a:rPr lang="en-IN" sz="1600" kern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Mohammad. (2020). Driver </a:t>
            </a:r>
            <a:r>
              <a:rPr lang="en-IN" sz="1600" kern="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600" kern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Detection and Classification Using Deep Convolutional Neural Networks. Expert Systems with Applications. 149. 113240. 10.1016/j.eswa.2020.113240.</a:t>
            </a:r>
            <a:endParaRPr lang="en-IN" sz="16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95300" indent="-342900">
              <a:lnSpc>
                <a:spcPct val="107000"/>
              </a:lnSpc>
              <a:spcAft>
                <a:spcPts val="800"/>
              </a:spcAft>
              <a:buClr>
                <a:srgbClr val="00B0F0"/>
              </a:buClr>
              <a:buFont typeface="+mj-lt"/>
              <a:buAutoNum type="arabicPeriod"/>
            </a:pPr>
            <a:r>
              <a:rPr lang="en-IN" sz="16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Moslemi</a:t>
            </a:r>
            <a:r>
              <a:rPr lang="en-IN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Negar &amp; </a:t>
            </a:r>
            <a:r>
              <a:rPr lang="en-IN" sz="16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Soryani</a:t>
            </a:r>
            <a:r>
              <a:rPr lang="en-IN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Mohsen &amp; Azmi, Reza. (2021). Computer vision-based recognition of driver distraction: A review. Concurrency and Computation Practice and Experience. 33. 10.1002/cpe.6475.</a:t>
            </a:r>
          </a:p>
          <a:p>
            <a:pPr marL="495300" indent="-342900">
              <a:lnSpc>
                <a:spcPct val="107000"/>
              </a:lnSpc>
              <a:spcAft>
                <a:spcPts val="800"/>
              </a:spcAft>
              <a:buClr>
                <a:srgbClr val="00B0F0"/>
              </a:buClr>
              <a:buFont typeface="+mj-lt"/>
              <a:buAutoNum type="arabicPeriod"/>
            </a:pPr>
            <a:r>
              <a:rPr lang="en-IN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Alotaibi, Bandar &amp; Alotaibi, Munif. (2020). Distracted Driver Classification Using Deep Learning. Signal Image and Video Processing. 14. 10.1007/s11760-019-01589-z.</a:t>
            </a:r>
          </a:p>
          <a:p>
            <a:pPr marL="495300" indent="-342900">
              <a:lnSpc>
                <a:spcPct val="107000"/>
              </a:lnSpc>
              <a:spcAft>
                <a:spcPts val="800"/>
              </a:spcAft>
              <a:buClr>
                <a:srgbClr val="00B0F0"/>
              </a:buClr>
              <a:buFont typeface="+mj-lt"/>
              <a:buAutoNum type="arabicPeriod"/>
            </a:pPr>
            <a:r>
              <a:rPr lang="en-IN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Hossain, Md &amp; Rahman, Md &amp; Islam, </a:t>
            </a:r>
            <a:r>
              <a:rPr lang="en-IN" sz="16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Manowarul</a:t>
            </a:r>
            <a:r>
              <a:rPr lang="en-IN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&amp; Akhter, Arnisha &amp; Uddin, Md Ashraf &amp; Paul, Bikash Kumar. (2022). Automatic Driver Distraction Detection using Deep Convolutional Neural Networks. Intelligent Systems with Applications. 14. 200075. 10.1016/j.iswa.2022.200075.</a:t>
            </a:r>
          </a:p>
          <a:p>
            <a:pPr marL="4953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endParaRPr lang="en-IN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953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endParaRPr lang="en-US" sz="1800" dirty="0">
              <a:latin typeface="+mn-lt"/>
            </a:endParaRPr>
          </a:p>
        </p:txBody>
      </p:sp>
      <p:sp>
        <p:nvSpPr>
          <p:cNvPr id="4" name="TextShape 3">
            <a:extLst>
              <a:ext uri="{FF2B5EF4-FFF2-40B4-BE49-F238E27FC236}">
                <a16:creationId xmlns:a16="http://schemas.microsoft.com/office/drawing/2014/main" id="{AA62E399-019F-4EDE-5214-8025531CE234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28</a:t>
            </a:fld>
            <a:endParaRPr lang="en-IN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914FA-0135-CF50-A728-223DAE72B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2A5AB-64EC-F36D-7FF4-1957CABFD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574" y="339502"/>
            <a:ext cx="8433366" cy="553998"/>
          </a:xfrm>
        </p:spPr>
        <p:txBody>
          <a:bodyPr/>
          <a:lstStyle/>
          <a:p>
            <a:r>
              <a:rPr lang="en-IN" b="1" spc="-1" dirty="0">
                <a:solidFill>
                  <a:srgbClr val="572314"/>
                </a:solidFill>
                <a:ea typeface="+mn-ea"/>
                <a:cs typeface="Times New Roman" pitchFamily="18" charset="0"/>
              </a:rPr>
              <a:t>Bibliography </a:t>
            </a:r>
            <a:r>
              <a:rPr lang="en-IN" b="1" spc="-1" dirty="0" err="1">
                <a:solidFill>
                  <a:srgbClr val="572314"/>
                </a:solidFill>
                <a:ea typeface="+mn-ea"/>
                <a:cs typeface="Times New Roman" pitchFamily="18" charset="0"/>
              </a:rPr>
              <a:t>Contd</a:t>
            </a:r>
            <a:r>
              <a:rPr lang="en-IN" b="1" spc="-1" dirty="0">
                <a:solidFill>
                  <a:srgbClr val="572314"/>
                </a:solidFill>
                <a:ea typeface="+mn-ea"/>
                <a:cs typeface="Times New Roman" pitchFamily="18" charset="0"/>
              </a:rPr>
              <a:t>…</a:t>
            </a:r>
            <a:endParaRPr lang="en-US" b="1" spc="-1" dirty="0">
              <a:solidFill>
                <a:srgbClr val="572314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126141-99A3-F29A-B2C5-91106E430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642" y="893500"/>
            <a:ext cx="8370716" cy="4250000"/>
          </a:xfrm>
        </p:spPr>
        <p:txBody>
          <a:bodyPr/>
          <a:lstStyle/>
          <a:p>
            <a:pPr marL="495300" indent="-342900">
              <a:buClr>
                <a:schemeClr val="accent5">
                  <a:lumMod val="75000"/>
                </a:schemeClr>
              </a:buClr>
              <a:buFont typeface="+mj-lt"/>
              <a:buAutoNum type="arabicPeriod" startAt="5"/>
            </a:pPr>
            <a:r>
              <a:rPr lang="en-IN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Alam, Lamia &amp; Hoque, </a:t>
            </a:r>
            <a:r>
              <a:rPr lang="en-IN" sz="16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Moshiul</a:t>
            </a:r>
            <a:r>
              <a:rPr lang="en-IN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(2019). Real-Time Distraction Detection Based on Driver's Visual Features. 1-6. 10.1109/ECACE.2019.8679191.</a:t>
            </a:r>
          </a:p>
          <a:p>
            <a:pPr marL="495300" indent="-342900">
              <a:buClr>
                <a:schemeClr val="accent5">
                  <a:lumMod val="75000"/>
                </a:schemeClr>
              </a:buClr>
              <a:buFont typeface="+mj-lt"/>
              <a:buAutoNum type="arabicPeriod" startAt="5"/>
            </a:pPr>
            <a:r>
              <a:rPr lang="en-IN" sz="16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Jagadale</a:t>
            </a:r>
            <a:r>
              <a:rPr lang="en-IN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Sujay &amp; Attar, </a:t>
            </a:r>
            <a:r>
              <a:rPr lang="en-IN" sz="16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Pirsab</a:t>
            </a:r>
            <a:r>
              <a:rPr lang="en-IN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(2022). Distracted Driver Detection: A Comparative Study Using CNN. 2449-2458. 10.46254/IN02.20220579.</a:t>
            </a:r>
          </a:p>
          <a:p>
            <a:pPr marL="495300" indent="-342900">
              <a:buClr>
                <a:schemeClr val="accent5">
                  <a:lumMod val="75000"/>
                </a:schemeClr>
              </a:buClr>
              <a:buFont typeface="+mj-lt"/>
              <a:buAutoNum type="arabicPeriod" startAt="5"/>
            </a:pPr>
            <a:r>
              <a:rPr lang="en-IN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Rajput, Ishwari &amp; Tyagi, Sonam &amp; Pandey, Vandana &amp; Upreti, Abha &amp; Kukreja, Jasleen. (2025). Enhancing Driver Safety with MobileNetV2-Based Transfer Learning for Drowsiness Detection. Procedia Computer Science. 259. 1239-1248. 10.1016/j.procs.2025.04.079.</a:t>
            </a:r>
          </a:p>
          <a:p>
            <a:pPr marL="495300" indent="-342900">
              <a:buClr>
                <a:schemeClr val="accent5">
                  <a:lumMod val="75000"/>
                </a:schemeClr>
              </a:buClr>
              <a:buFont typeface="+mj-lt"/>
              <a:buAutoNum type="arabicPeriod" startAt="5"/>
            </a:pPr>
            <a:r>
              <a:rPr lang="en-IN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Reddy, </a:t>
            </a:r>
            <a:r>
              <a:rPr lang="en-IN" sz="16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Ariveeti</a:t>
            </a:r>
            <a:r>
              <a:rPr lang="en-IN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&amp; Khan, Ibrahim &amp; T, Neethu &amp; Thampi, Lidiya &amp; A, Aswathy &amp; Kumar, Abhishek &amp; Kumar, Sunny. (2024). Smart Driver Assistance: Real-Time Drowsiness Detection Leveraging Facial Cues with </a:t>
            </a:r>
            <a:r>
              <a:rPr lang="en-IN" sz="16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MediaPipe</a:t>
            </a:r>
            <a:r>
              <a:rPr lang="en-IN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and OpenCV. 10.21203/rs.3.rs-4642662/v1.</a:t>
            </a:r>
          </a:p>
          <a:p>
            <a:pPr marL="495300" indent="-342900">
              <a:buClr>
                <a:schemeClr val="accent5">
                  <a:lumMod val="75000"/>
                </a:schemeClr>
              </a:buClr>
              <a:buFont typeface="+mj-lt"/>
              <a:buAutoNum type="arabicPeriod" startAt="5"/>
            </a:pPr>
            <a:r>
              <a:rPr lang="en-IN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Sheikh, Amaan &amp; Khan, Imaad. (2024). Enhancing Road Safety: Real-Time Detection of Driver Distraction through Convolutional Neural Networks. 10.48550/arXiv.2405.17788.</a:t>
            </a:r>
          </a:p>
          <a:p>
            <a:pPr marL="495300" indent="-342900">
              <a:buClr>
                <a:schemeClr val="accent5">
                  <a:lumMod val="75000"/>
                </a:schemeClr>
              </a:buClr>
              <a:buFont typeface="+mj-lt"/>
              <a:buAutoNum type="arabicPeriod" startAt="5"/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95300" indent="-342900">
              <a:buClr>
                <a:schemeClr val="accent5">
                  <a:lumMod val="75000"/>
                </a:schemeClr>
              </a:buClr>
              <a:buFont typeface="+mj-lt"/>
              <a:buAutoNum type="arabicPeriod" startAt="5"/>
            </a:pPr>
            <a:endParaRPr lang="en-US" sz="1400" dirty="0">
              <a:latin typeface="+mn-lt"/>
            </a:endParaRPr>
          </a:p>
        </p:txBody>
      </p:sp>
      <p:sp>
        <p:nvSpPr>
          <p:cNvPr id="4" name="TextShape 3">
            <a:extLst>
              <a:ext uri="{FF2B5EF4-FFF2-40B4-BE49-F238E27FC236}">
                <a16:creationId xmlns:a16="http://schemas.microsoft.com/office/drawing/2014/main" id="{D529033C-0B6D-8CD0-D879-D8098FF038B0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29</a:t>
            </a:fld>
            <a:endParaRPr lang="en-IN" sz="12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0155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435680" y="206010"/>
            <a:ext cx="749772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087FA15C-8669-41A7-83ED-7B46D054D84B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30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26" name="Picture 2"/>
          <p:cNvPicPr/>
          <p:nvPr/>
        </p:nvPicPr>
        <p:blipFill>
          <a:blip r:embed="rId2" cstate="print"/>
          <a:stretch/>
        </p:blipFill>
        <p:spPr>
          <a:xfrm>
            <a:off x="1763640" y="1778220"/>
            <a:ext cx="6049800" cy="22156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38.jpeg"/></Relationships>
</file>

<file path=ppt/theme/theme1.xml><?xml version="1.0" encoding="utf-8"?>
<a:theme xmlns:a="http://schemas.openxmlformats.org/drawingml/2006/main" name="Minimalist Aesthetics Business Plan XL by Slidesgo">
  <a:themeElements>
    <a:clrScheme name="Simple Light">
      <a:dk1>
        <a:srgbClr val="01083A"/>
      </a:dk1>
      <a:lt1>
        <a:srgbClr val="E5E8FF"/>
      </a:lt1>
      <a:dk2>
        <a:srgbClr val="B9C2FF"/>
      </a:dk2>
      <a:lt2>
        <a:srgbClr val="97A4FF"/>
      </a:lt2>
      <a:accent1>
        <a:srgbClr val="2332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08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Custom Design - PresentationGO">
  <a:themeElements>
    <a:clrScheme name="PGO-105">
      <a:dk1>
        <a:srgbClr val="2B323B"/>
      </a:dk1>
      <a:lt1>
        <a:sysClr val="window" lastClr="FFFFFF"/>
      </a:lt1>
      <a:dk2>
        <a:srgbClr val="5D686E"/>
      </a:dk2>
      <a:lt2>
        <a:srgbClr val="E7E6E6"/>
      </a:lt2>
      <a:accent1>
        <a:srgbClr val="33CAFF"/>
      </a:accent1>
      <a:accent2>
        <a:srgbClr val="4C8BFD"/>
      </a:accent2>
      <a:accent3>
        <a:srgbClr val="F6F7FC"/>
      </a:accent3>
      <a:accent4>
        <a:srgbClr val="BFCBD9"/>
      </a:accent4>
      <a:accent5>
        <a:srgbClr val="4C8BFD"/>
      </a:accent5>
      <a:accent6>
        <a:srgbClr val="4C8BFD"/>
      </a:accent6>
      <a:hlink>
        <a:srgbClr val="33CAFF"/>
      </a:hlink>
      <a:folHlink>
        <a:srgbClr val="33CAF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78B1EDBC-4A95-4303-94E3-B14C14EBEA23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8E044A80-51C6-4156-9123-ACBB6F9A67F4}"/>
    </a:ext>
  </a:extLst>
</a:theme>
</file>

<file path=ppt/theme/theme6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1604</TotalTime>
  <Words>2333</Words>
  <Application>Microsoft Office PowerPoint</Application>
  <PresentationFormat>On-screen Show (16:9)</PresentationFormat>
  <Paragraphs>514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30</vt:i4>
      </vt:variant>
    </vt:vector>
  </HeadingPairs>
  <TitlesOfParts>
    <vt:vector size="51" baseType="lpstr">
      <vt:lpstr>Anaheim</vt:lpstr>
      <vt:lpstr>Arial</vt:lpstr>
      <vt:lpstr>Bebas Neue</vt:lpstr>
      <vt:lpstr>Calibri</vt:lpstr>
      <vt:lpstr>Calibri Light</vt:lpstr>
      <vt:lpstr>Cardo</vt:lpstr>
      <vt:lpstr>Gill Sans MT</vt:lpstr>
      <vt:lpstr>Josefin Sans</vt:lpstr>
      <vt:lpstr>Open Sans</vt:lpstr>
      <vt:lpstr>Proxima Nova</vt:lpstr>
      <vt:lpstr>Proxima Nova Semibold</vt:lpstr>
      <vt:lpstr>Quicksand</vt:lpstr>
      <vt:lpstr>Roboto Condensed Light</vt:lpstr>
      <vt:lpstr>Times New Roman</vt:lpstr>
      <vt:lpstr>Wingdings</vt:lpstr>
      <vt:lpstr>Minimalist Aesthetics Business Plan XL by Slidesgo</vt:lpstr>
      <vt:lpstr>Slidesgo Final Pages</vt:lpstr>
      <vt:lpstr>1_Slidesgo Final Pages</vt:lpstr>
      <vt:lpstr>1_Custom Design - PresentationGO</vt:lpstr>
      <vt:lpstr>Custom Design</vt:lpstr>
      <vt:lpstr>Clarity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Bibliography </vt:lpstr>
      <vt:lpstr>Bibliography Contd…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BARNALI SAHU</dc:creator>
  <cp:lastModifiedBy>ankit mishra</cp:lastModifiedBy>
  <cp:revision>370</cp:revision>
  <dcterms:created xsi:type="dcterms:W3CDTF">2023-04-24T05:50:18Z</dcterms:created>
  <dcterms:modified xsi:type="dcterms:W3CDTF">2025-06-09T16:52:34Z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</Properties>
</file>